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7" Type="http://schemas.openxmlformats.org/officeDocument/2006/relationships/presProps" Target="presProps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18" Type="http://schemas.openxmlformats.org/officeDocument/2006/relationships/tableStyles" Target="tableStyles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9" Type="http://schemas.openxmlformats.org/officeDocument/2006/relationships/viewProps" Target="viewProp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4" Type="http://schemas.openxmlformats.org/officeDocument/2006/relationships/slideLayout" Target="../slideLayouts/slideLayout5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1.png" /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5" Type="http://schemas.openxmlformats.org/officeDocument/2006/relationships/image" Target="media/image7.png" /><Relationship Id="rId4" Type="http://schemas.openxmlformats.org/officeDocument/2006/relationships/image" Target="media/image6.png" /><Relationship Id="rId3" Type="http://schemas.openxmlformats.org/officeDocument/2006/relationships/image" Target="media/image5.png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4.png" /><Relationship Id="rId1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181051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0C7C5"/>
                </a:solidFill>
                <a:latin typeface="Noto Sans SC"/>
              </a:rPr>
              <a:t>桌 面 学 习 工 具   ·   W I N D O W 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2139696"/>
            <a:ext cx="5486400" cy="142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160">
                <a:solidFill>
                  <a:srgbClr val="FFFFFF"/>
                </a:solidFill>
                <a:latin typeface="Noto Sans SC"/>
              </a:rPr>
              <a:t>让单词</a:t>
            </a:r>
            <a:endParaRPr/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160">
                <a:solidFill>
                  <a:srgbClr val="FFFFFF"/>
                </a:solidFill>
                <a:latin typeface="Noto Sans SC"/>
              </a:rPr>
              <a:t>主动找你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3712463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C4D2"/>
                </a:solidFill>
                <a:latin typeface="Noto Sans SC"/>
              </a:rPr>
              <a:t>点一下蜘蛛的头，框住屏幕上的一段英文 ——
它用八条腿踩住八个单词。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4626864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4"/>
                </a:solidFill>
                <a:latin typeface="Noto Sans SC"/>
              </a:rPr>
              <a:t>音标、中文释义、考纲标签当场给出；收藏之后，
按 1 / 3 / 7 / 14 天自动排期复习。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504" y="5541264"/>
            <a:ext cx="13716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DCE3EA"/>
                </a:solidFill>
                <a:latin typeface="Noto Sans SC"/>
              </a:rPr>
              <a:t>全本地识别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84832" y="5541264"/>
            <a:ext cx="13716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DCE3EA"/>
                </a:solidFill>
                <a:latin typeface="Noto Sans SC"/>
              </a:rPr>
              <a:t>75.8 万词条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6160" y="5541264"/>
            <a:ext cx="13716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DCE3EA"/>
                </a:solidFill>
                <a:latin typeface="Noto Sans SC"/>
              </a:rPr>
              <a:t>单文件免安装</a:t>
            </a:r>
            <a:endParaRPr/>
          </a:p>
        </p:txBody>
      </p:sp>
      <p:pic>
        <p:nvPicPr>
          <p:cNvPr id="9" name="Picture 8" descr="lexara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609011"/>
            <a:ext cx="1920240" cy="519337"/>
          </a:xfrm>
          <a:prstGeom prst="rect">
            <a:avLst/>
          </a:prstGeom>
        </p:spPr>
      </p:pic>
      <p:pic>
        <p:nvPicPr>
          <p:cNvPr id="10" name="Picture 9" descr="launche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859" y="1170432"/>
            <a:ext cx="5805312" cy="38326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88715" y="1161288"/>
            <a:ext cx="5823600" cy="3850921"/>
          </a:xfrm>
          <a:prstGeom prst="roundRect">
            <a:avLst>
              <a:gd name="adj" fmla="val 3324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7859" y="5222521"/>
            <a:ext cx="58053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启动台 · 桌面学习空间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97859" y="5515129"/>
            <a:ext cx="58053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7A87"/>
                </a:solidFill>
                <a:latin typeface="Noto Sans SC"/>
              </a:rPr>
              <a:t>今日复习、学习日志、部署按钮都在这一屏；点部署，蜘蛛就爬到桌面上。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01 / WHY NOW</a:t>
            </a:r>
            <a:endParaRPr/>
          </a:p>
        </p:txBody>
      </p:sp>
      <p:sp>
        <p:nvSpPr>
          <p:cNvPr id="212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背单词为什么总在「看过」之后失效</a:t>
            </a:r>
            <a:endParaRPr/>
          </a:p>
        </p:txBody>
      </p:sp>
      <p:sp>
        <p:nvSpPr>
          <p:cNvPr id="213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Lexara 把学习动作放回你正在阅读的场景里</a:t>
            </a:r>
            <a:endParaRPr/>
          </a:p>
        </p:txBody>
      </p:sp>
      <p:sp>
        <p:nvSpPr>
          <p:cNvPr id="214" name="TextBox 4"/>
          <p:cNvSpPr txBox="1"/>
          <p:nvPr/>
        </p:nvSpPr>
        <p:spPr>
          <a:xfrm>
            <a:off x="603504" y="1883664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10151C"/>
                </a:solidFill>
                <a:latin typeface="Noto Sans SC"/>
              </a:rPr>
              <a:t>阅读发生在浏览器、PDF、IDE、字幕窗口里。</a:t>
            </a:r>
            <a:endParaRPr/>
          </a:p>
        </p:txBody>
      </p:sp>
      <p:sp>
        <p:nvSpPr>
          <p:cNvPr id="215" name="TextBox 5"/>
          <p:cNvSpPr txBox="1"/>
          <p:nvPr/>
        </p:nvSpPr>
        <p:spPr>
          <a:xfrm>
            <a:off x="603504" y="2450592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571"/>
                </a:solidFill>
                <a:latin typeface="Noto Sans SC"/>
              </a:rPr>
              <a:t>传统工具把你拉离现场：复制、切换、搜索、收藏，再回到原文。每一次切换都在消耗学习意愿。</a:t>
            </a:r>
            <a:endParaRPr/>
          </a:p>
        </p:txBody>
      </p:sp>
      <p:cxnSp>
        <p:nvCxnSpPr>
          <p:cNvPr id="216" name="Connector 6"/>
          <p:cNvCxnSpPr/>
          <p:nvPr/>
        </p:nvCxnSpPr>
        <p:spPr>
          <a:xfrm>
            <a:off x="603504" y="3913632"/>
            <a:ext cx="4937760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7"/>
          <p:cNvSpPr txBox="1"/>
          <p:nvPr/>
        </p:nvSpPr>
        <p:spPr>
          <a:xfrm>
            <a:off x="603504" y="411480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8F8D"/>
                </a:solidFill>
                <a:latin typeface="Noto Sans SC"/>
              </a:rPr>
              <a:t>Lexara 的切入点</a:t>
            </a:r>
            <a:endParaRPr/>
          </a:p>
        </p:txBody>
      </p:sp>
      <p:sp>
        <p:nvSpPr>
          <p:cNvPr id="218" name="TextBox 8"/>
          <p:cNvSpPr txBox="1"/>
          <p:nvPr/>
        </p:nvSpPr>
        <p:spPr>
          <a:xfrm>
            <a:off x="603504" y="446227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0151C"/>
                </a:solidFill>
                <a:latin typeface="Noto Sans SC"/>
              </a:rPr>
              <a:t>让识词动作发生在桌面上，
而不是另一个应用里。</a:t>
            </a:r>
            <a:endParaRPr/>
          </a:p>
        </p:txBody>
      </p:sp>
      <p:sp>
        <p:nvSpPr>
          <p:cNvPr id="219" name="Rounded Rectangle 9"/>
          <p:cNvSpPr/>
          <p:nvPr/>
        </p:nvSpPr>
        <p:spPr>
          <a:xfrm>
            <a:off x="6492240" y="1810512"/>
            <a:ext cx="5074920" cy="3529584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TextBox 10"/>
          <p:cNvSpPr txBox="1"/>
          <p:nvPr/>
        </p:nvSpPr>
        <p:spPr>
          <a:xfrm>
            <a:off x="6912864" y="2212848"/>
            <a:ext cx="4251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5B7F"/>
                </a:solidFill>
                <a:latin typeface="Noto Sans SC"/>
              </a:rPr>
              <a:t>离开阅读现场</a:t>
            </a:r>
            <a:endParaRPr/>
          </a:p>
        </p:txBody>
      </p:sp>
      <p:sp>
        <p:nvSpPr>
          <p:cNvPr id="221" name="TextBox 11"/>
          <p:cNvSpPr txBox="1"/>
          <p:nvPr/>
        </p:nvSpPr>
        <p:spPr>
          <a:xfrm>
            <a:off x="6912864" y="2596896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10151C"/>
                </a:solidFill>
                <a:latin typeface="Noto Sans SC"/>
              </a:rPr>
              <a:t>复制 → 切换 → 搜索 → 收藏</a:t>
            </a:r>
            <a:endParaRPr/>
          </a:p>
        </p:txBody>
      </p:sp>
      <p:cxnSp>
        <p:nvCxnSpPr>
          <p:cNvPr id="222" name="Connector 12"/>
          <p:cNvCxnSpPr/>
          <p:nvPr/>
        </p:nvCxnSpPr>
        <p:spPr>
          <a:xfrm>
            <a:off x="6912864" y="3291840"/>
            <a:ext cx="423367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13"/>
          <p:cNvSpPr txBox="1"/>
          <p:nvPr/>
        </p:nvSpPr>
        <p:spPr>
          <a:xfrm>
            <a:off x="6912864" y="3511296"/>
            <a:ext cx="42519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B6571"/>
                </a:solidFill>
                <a:latin typeface="Noto Sans SC"/>
              </a:rPr>
              <a:t>记忆没有和「当下语境」绑定</a:t>
            </a:r>
            <a:endParaRPr/>
          </a:p>
        </p:txBody>
      </p:sp>
      <p:sp>
        <p:nvSpPr>
          <p:cNvPr id="224" name="Rounded Rectangle 14"/>
          <p:cNvSpPr/>
          <p:nvPr/>
        </p:nvSpPr>
        <p:spPr>
          <a:xfrm>
            <a:off x="6912864" y="409651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8F7F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25" b="1">
                <a:solidFill>
                  <a:srgbClr val="0E8F8D"/>
                </a:solidFill>
                <a:latin typeface="Noto Sans SC"/>
              </a:rPr>
              <a:t>学习成本  ↑</a:t>
            </a:r>
            <a:endParaRPr/>
          </a:p>
        </p:txBody>
      </p:sp>
      <p:sp>
        <p:nvSpPr>
          <p:cNvPr id="225" name="TextBox 15"/>
          <p:cNvSpPr txBox="1"/>
          <p:nvPr/>
        </p:nvSpPr>
        <p:spPr>
          <a:xfrm>
            <a:off x="6912864" y="4663440"/>
            <a:ext cx="4251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查得越多，读得越碎 —— 这是工具的问题，不是意志力的问题。</a:t>
            </a:r>
            <a:endParaRPr/>
          </a:p>
        </p:txBody>
      </p:sp>
      <p:sp>
        <p:nvSpPr>
          <p:cNvPr id="226" name="TextBox 16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227" name="TextBox 17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02 / PRODUCT LOOP</a:t>
            </a:r>
            <a:endParaRPr/>
          </a:p>
        </p:txBody>
      </p:sp>
      <p:sp>
        <p:nvSpPr>
          <p:cNvPr id="230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从「看到一个词」到「记住它」</a:t>
            </a:r>
            <a:endParaRPr/>
          </a:p>
        </p:txBody>
      </p:sp>
      <p:sp>
        <p:nvSpPr>
          <p:cNvPr id="231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一次动作，完成识别、理解、收藏与复习</a:t>
            </a:r>
            <a:endParaRPr/>
          </a:p>
        </p:txBody>
      </p:sp>
      <p:sp>
        <p:nvSpPr>
          <p:cNvPr id="232" name="Rounded Rectangle 4"/>
          <p:cNvSpPr/>
          <p:nvPr/>
        </p:nvSpPr>
        <p:spPr>
          <a:xfrm>
            <a:off x="545439" y="2048256"/>
            <a:ext cx="2487168" cy="2084831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3" name="Oval 5"/>
          <p:cNvSpPr/>
          <p:nvPr/>
        </p:nvSpPr>
        <p:spPr>
          <a:xfrm>
            <a:off x="783183" y="2267712"/>
            <a:ext cx="438912" cy="438912"/>
          </a:xfrm>
          <a:prstGeom prst="ellipse">
            <a:avLst/>
          </a:prstGeom>
          <a:solidFill>
            <a:srgbClr val="4B6C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TextBox 6"/>
          <p:cNvSpPr txBox="1"/>
          <p:nvPr/>
        </p:nvSpPr>
        <p:spPr>
          <a:xfrm>
            <a:off x="874623" y="23774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SC"/>
              </a:rPr>
              <a:t>1</a:t>
            </a:r>
            <a:endParaRPr/>
          </a:p>
        </p:txBody>
      </p:sp>
      <p:sp>
        <p:nvSpPr>
          <p:cNvPr id="235" name="TextBox 7"/>
          <p:cNvSpPr txBox="1"/>
          <p:nvPr/>
        </p:nvSpPr>
        <p:spPr>
          <a:xfrm>
            <a:off x="874623" y="28346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51C"/>
                </a:solidFill>
                <a:latin typeface="Noto Sans SC"/>
              </a:rPr>
              <a:t>框选</a:t>
            </a:r>
            <a:endParaRPr/>
          </a:p>
        </p:txBody>
      </p:sp>
      <p:sp>
        <p:nvSpPr>
          <p:cNvPr id="236" name="TextBox 8"/>
          <p:cNvSpPr txBox="1"/>
          <p:nvPr/>
        </p:nvSpPr>
        <p:spPr>
          <a:xfrm>
            <a:off x="874623" y="329184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点蜘蛛头，
框住屏幕上的英文</a:t>
            </a:r>
            <a:endParaRPr/>
          </a:p>
        </p:txBody>
      </p:sp>
      <p:cxnSp>
        <p:nvCxnSpPr>
          <p:cNvPr id="237" name="Connector 9"/>
          <p:cNvCxnSpPr/>
          <p:nvPr/>
        </p:nvCxnSpPr>
        <p:spPr>
          <a:xfrm>
            <a:off x="3105759" y="3090672"/>
            <a:ext cx="237744" cy="0"/>
          </a:xfrm>
          <a:prstGeom prst="line">
            <a:avLst/>
          </a:prstGeom>
          <a:ln w="15875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Oval 10"/>
          <p:cNvSpPr/>
          <p:nvPr/>
        </p:nvSpPr>
        <p:spPr>
          <a:xfrm>
            <a:off x="3178911" y="3044952"/>
            <a:ext cx="91440" cy="91440"/>
          </a:xfrm>
          <a:prstGeom prst="ellipse">
            <a:avLst/>
          </a:prstGeom>
          <a:solidFill>
            <a:srgbClr val="C9C2B2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Rounded Rectangle 11"/>
          <p:cNvSpPr/>
          <p:nvPr/>
        </p:nvSpPr>
        <p:spPr>
          <a:xfrm>
            <a:off x="3416655" y="2048256"/>
            <a:ext cx="2487168" cy="2084831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Oval 12"/>
          <p:cNvSpPr/>
          <p:nvPr/>
        </p:nvSpPr>
        <p:spPr>
          <a:xfrm>
            <a:off x="3654399" y="2267712"/>
            <a:ext cx="438912" cy="438912"/>
          </a:xfrm>
          <a:prstGeom prst="ellipse">
            <a:avLst/>
          </a:prstGeom>
          <a:solidFill>
            <a:srgbClr val="10C7C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1" name="TextBox 13"/>
          <p:cNvSpPr txBox="1"/>
          <p:nvPr/>
        </p:nvSpPr>
        <p:spPr>
          <a:xfrm>
            <a:off x="3745839" y="23774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SC"/>
              </a:rPr>
              <a:t>2</a:t>
            </a:r>
            <a:endParaRPr/>
          </a:p>
        </p:txBody>
      </p:sp>
      <p:sp>
        <p:nvSpPr>
          <p:cNvPr id="242" name="TextBox 14"/>
          <p:cNvSpPr txBox="1"/>
          <p:nvPr/>
        </p:nvSpPr>
        <p:spPr>
          <a:xfrm>
            <a:off x="3745839" y="28346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51C"/>
                </a:solidFill>
                <a:latin typeface="Noto Sans SC"/>
              </a:rPr>
              <a:t>识别</a:t>
            </a:r>
            <a:endParaRPr/>
          </a:p>
        </p:txBody>
      </p:sp>
      <p:sp>
        <p:nvSpPr>
          <p:cNvPr id="243" name="TextBox 15"/>
          <p:cNvSpPr txBox="1"/>
          <p:nvPr/>
        </p:nvSpPr>
        <p:spPr>
          <a:xfrm>
            <a:off x="3745839" y="329184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本地 OCR 出词，
按考纲与词频挑词</a:t>
            </a:r>
            <a:endParaRPr/>
          </a:p>
        </p:txBody>
      </p:sp>
      <p:cxnSp>
        <p:nvCxnSpPr>
          <p:cNvPr id="244" name="Connector 16"/>
          <p:cNvCxnSpPr/>
          <p:nvPr/>
        </p:nvCxnSpPr>
        <p:spPr>
          <a:xfrm>
            <a:off x="5976975" y="3090672"/>
            <a:ext cx="237744" cy="0"/>
          </a:xfrm>
          <a:prstGeom prst="line">
            <a:avLst/>
          </a:prstGeom>
          <a:ln w="15875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17"/>
          <p:cNvSpPr/>
          <p:nvPr/>
        </p:nvSpPr>
        <p:spPr>
          <a:xfrm>
            <a:off x="6050127" y="3044952"/>
            <a:ext cx="91440" cy="91440"/>
          </a:xfrm>
          <a:prstGeom prst="ellipse">
            <a:avLst/>
          </a:prstGeom>
          <a:solidFill>
            <a:srgbClr val="C9C2B2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6" name="Rounded Rectangle 18"/>
          <p:cNvSpPr/>
          <p:nvPr/>
        </p:nvSpPr>
        <p:spPr>
          <a:xfrm>
            <a:off x="6287871" y="2048256"/>
            <a:ext cx="2487168" cy="2084831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Oval 19"/>
          <p:cNvSpPr/>
          <p:nvPr/>
        </p:nvSpPr>
        <p:spPr>
          <a:xfrm>
            <a:off x="6525615" y="2267712"/>
            <a:ext cx="438912" cy="438912"/>
          </a:xfrm>
          <a:prstGeom prst="ellipse">
            <a:avLst/>
          </a:prstGeom>
          <a:solidFill>
            <a:srgbClr val="FF5B7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8" name="TextBox 20"/>
          <p:cNvSpPr txBox="1"/>
          <p:nvPr/>
        </p:nvSpPr>
        <p:spPr>
          <a:xfrm>
            <a:off x="6617055" y="23774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SC"/>
              </a:rPr>
              <a:t>3</a:t>
            </a:r>
            <a:endParaRPr/>
          </a:p>
        </p:txBody>
      </p:sp>
      <p:sp>
        <p:nvSpPr>
          <p:cNvPr id="249" name="TextBox 21"/>
          <p:cNvSpPr txBox="1"/>
          <p:nvPr/>
        </p:nvSpPr>
        <p:spPr>
          <a:xfrm>
            <a:off x="6617055" y="28346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51C"/>
                </a:solidFill>
                <a:latin typeface="Noto Sans SC"/>
              </a:rPr>
              <a:t>踩词</a:t>
            </a:r>
            <a:endParaRPr/>
          </a:p>
        </p:txBody>
      </p:sp>
      <p:sp>
        <p:nvSpPr>
          <p:cNvPr id="250" name="TextBox 22"/>
          <p:cNvSpPr txBox="1"/>
          <p:nvPr/>
        </p:nvSpPr>
        <p:spPr>
          <a:xfrm>
            <a:off x="6617055" y="329184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八条腿分别踩住
八个词，颜色对应</a:t>
            </a:r>
            <a:endParaRPr/>
          </a:p>
        </p:txBody>
      </p:sp>
      <p:cxnSp>
        <p:nvCxnSpPr>
          <p:cNvPr id="251" name="Connector 23"/>
          <p:cNvCxnSpPr/>
          <p:nvPr/>
        </p:nvCxnSpPr>
        <p:spPr>
          <a:xfrm>
            <a:off x="8848191" y="3090672"/>
            <a:ext cx="237744" cy="0"/>
          </a:xfrm>
          <a:prstGeom prst="line">
            <a:avLst/>
          </a:prstGeom>
          <a:ln w="15875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Oval 24"/>
          <p:cNvSpPr/>
          <p:nvPr/>
        </p:nvSpPr>
        <p:spPr>
          <a:xfrm>
            <a:off x="8921343" y="3044952"/>
            <a:ext cx="91440" cy="91440"/>
          </a:xfrm>
          <a:prstGeom prst="ellipse">
            <a:avLst/>
          </a:prstGeom>
          <a:solidFill>
            <a:srgbClr val="C9C2B2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3" name="Rounded Rectangle 25"/>
          <p:cNvSpPr/>
          <p:nvPr/>
        </p:nvSpPr>
        <p:spPr>
          <a:xfrm>
            <a:off x="9159087" y="2048256"/>
            <a:ext cx="2487168" cy="2084831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4" name="Oval 26"/>
          <p:cNvSpPr/>
          <p:nvPr/>
        </p:nvSpPr>
        <p:spPr>
          <a:xfrm>
            <a:off x="9396831" y="2267712"/>
            <a:ext cx="438912" cy="438912"/>
          </a:xfrm>
          <a:prstGeom prst="ellipse">
            <a:avLst/>
          </a:prstGeom>
          <a:solidFill>
            <a:srgbClr val="F0A32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5" name="TextBox 27"/>
          <p:cNvSpPr txBox="1"/>
          <p:nvPr/>
        </p:nvSpPr>
        <p:spPr>
          <a:xfrm>
            <a:off x="9488271" y="237744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SC"/>
              </a:rPr>
              <a:t>4</a:t>
            </a:r>
            <a:endParaRPr/>
          </a:p>
        </p:txBody>
      </p:sp>
      <p:sp>
        <p:nvSpPr>
          <p:cNvPr id="256" name="TextBox 28"/>
          <p:cNvSpPr txBox="1"/>
          <p:nvPr/>
        </p:nvSpPr>
        <p:spPr>
          <a:xfrm>
            <a:off x="9488271" y="28346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151C"/>
                </a:solidFill>
                <a:latin typeface="Noto Sans SC"/>
              </a:rPr>
              <a:t>复习</a:t>
            </a:r>
            <a:endParaRPr/>
          </a:p>
        </p:txBody>
      </p:sp>
      <p:sp>
        <p:nvSpPr>
          <p:cNvPr id="257" name="TextBox 29"/>
          <p:cNvSpPr txBox="1"/>
          <p:nvPr/>
        </p:nvSpPr>
        <p:spPr>
          <a:xfrm>
            <a:off x="9488271" y="329184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收进单词本，
按 1/3/7/14 天排期</a:t>
            </a:r>
            <a:endParaRPr/>
          </a:p>
        </p:txBody>
      </p:sp>
      <p:sp>
        <p:nvSpPr>
          <p:cNvPr id="258" name="TextBox 30"/>
          <p:cNvSpPr txBox="1"/>
          <p:nvPr/>
        </p:nvSpPr>
        <p:spPr>
          <a:xfrm>
            <a:off x="603504" y="4681728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8F8D"/>
                </a:solidFill>
                <a:latin typeface="Noto Sans SC"/>
              </a:rPr>
              <a:t>关键变化</a:t>
            </a:r>
            <a:endParaRPr/>
          </a:p>
        </p:txBody>
      </p:sp>
      <p:sp>
        <p:nvSpPr>
          <p:cNvPr id="259" name="TextBox 31"/>
          <p:cNvSpPr txBox="1"/>
          <p:nvPr/>
        </p:nvSpPr>
        <p:spPr>
          <a:xfrm>
            <a:off x="603504" y="5029200"/>
            <a:ext cx="1061892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0151C"/>
                </a:solidFill>
                <a:latin typeface="Noto Sans SC"/>
              </a:rPr>
              <a:t>把「查单词」变成屏幕上的即时反馈，再把反馈沉淀成
可复习的个人词库。</a:t>
            </a:r>
            <a:endParaRPr/>
          </a:p>
        </p:txBody>
      </p:sp>
      <p:sp>
        <p:nvSpPr>
          <p:cNvPr id="260" name="TextBox 32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261" name="TextBox 33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03 / MOMENT OF USE</a:t>
            </a:r>
            <a:endParaRPr/>
          </a:p>
        </p:txBody>
      </p:sp>
      <p:sp>
        <p:nvSpPr>
          <p:cNvPr id="264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一次框选，屏幕立刻有回应</a:t>
            </a:r>
            <a:endParaRPr/>
          </a:p>
        </p:txBody>
      </p:sp>
      <p:sp>
        <p:nvSpPr>
          <p:cNvPr id="265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结果留在原文位置，不用切走、不用复制</a:t>
            </a:r>
            <a:endParaRPr/>
          </a:p>
        </p:txBody>
      </p:sp>
      <p:pic>
        <p:nvPicPr>
          <p:cNvPr id="266" name="Picture 4" descr="aim_live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39443"/>
            <a:ext cx="6903720" cy="4202073"/>
          </a:xfrm>
          <a:prstGeom prst="rect">
            <a:avLst/>
          </a:prstGeom>
        </p:spPr>
      </p:pic>
      <p:sp>
        <p:nvSpPr>
          <p:cNvPr id="267" name="TextBox 5"/>
          <p:cNvSpPr txBox="1"/>
          <p:nvPr/>
        </p:nvSpPr>
        <p:spPr>
          <a:xfrm>
            <a:off x="603504" y="6016752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571"/>
                </a:solidFill>
                <a:latin typeface="Noto Sans SC"/>
              </a:rPr>
              <a:t>↑ 实机运行：真实的蜘蛛、真实的腿位，叠加在阅读窗口上</a:t>
            </a:r>
            <a:endParaRPr/>
          </a:p>
        </p:txBody>
      </p:sp>
      <p:sp>
        <p:nvSpPr>
          <p:cNvPr id="268" name="Rounded Rectangle 6"/>
          <p:cNvSpPr/>
          <p:nvPr/>
        </p:nvSpPr>
        <p:spPr>
          <a:xfrm>
            <a:off x="7845552" y="1737360"/>
            <a:ext cx="3749039" cy="4206240"/>
          </a:xfrm>
          <a:prstGeom prst="roundRect">
            <a:avLst>
              <a:gd name="adj" fmla="val 4878"/>
            </a:avLst>
          </a:prstGeom>
          <a:solidFill>
            <a:srgbClr val="0B111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9" name="TextBox 7"/>
          <p:cNvSpPr txBox="1"/>
          <p:nvPr/>
        </p:nvSpPr>
        <p:spPr>
          <a:xfrm>
            <a:off x="8247888" y="21214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C7C5"/>
                </a:solidFill>
                <a:latin typeface="Noto Sans SC"/>
              </a:rPr>
              <a:t>识词结果卡</a:t>
            </a:r>
            <a:endParaRPr/>
          </a:p>
        </p:txBody>
      </p:sp>
      <p:sp>
        <p:nvSpPr>
          <p:cNvPr id="270" name="TextBox 8"/>
          <p:cNvSpPr txBox="1"/>
          <p:nvPr/>
        </p:nvSpPr>
        <p:spPr>
          <a:xfrm>
            <a:off x="8247888" y="2468880"/>
            <a:ext cx="310895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Noto Sans SC"/>
              </a:rPr>
              <a:t>insufficient</a:t>
            </a:r>
            <a:endParaRPr/>
          </a:p>
        </p:txBody>
      </p:sp>
      <p:sp>
        <p:nvSpPr>
          <p:cNvPr id="271" name="TextBox 9"/>
          <p:cNvSpPr txBox="1"/>
          <p:nvPr/>
        </p:nvSpPr>
        <p:spPr>
          <a:xfrm>
            <a:off x="8247888" y="2962656"/>
            <a:ext cx="3108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4D2"/>
                </a:solidFill>
                <a:latin typeface="Noto Sans SC"/>
              </a:rPr>
              <a:t>/ˌɪnsəˈfɪʃənt/</a:t>
            </a:r>
            <a:endParaRPr/>
          </a:p>
        </p:txBody>
      </p:sp>
      <p:sp>
        <p:nvSpPr>
          <p:cNvPr id="272" name="TextBox 10"/>
          <p:cNvSpPr txBox="1"/>
          <p:nvPr/>
        </p:nvSpPr>
        <p:spPr>
          <a:xfrm>
            <a:off x="8247888" y="3346704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ECF2"/>
                </a:solidFill>
                <a:latin typeface="Noto Sans SC"/>
              </a:rPr>
              <a:t>a. 不够的；不能胜任的；不足的</a:t>
            </a:r>
            <a:endParaRPr/>
          </a:p>
        </p:txBody>
      </p:sp>
      <p:sp>
        <p:nvSpPr>
          <p:cNvPr id="273" name="Rounded Rectangle 11"/>
          <p:cNvSpPr/>
          <p:nvPr/>
        </p:nvSpPr>
        <p:spPr>
          <a:xfrm>
            <a:off x="8247888" y="3950208"/>
            <a:ext cx="2395728" cy="310896"/>
          </a:xfrm>
          <a:prstGeom prst="roundRect">
            <a:avLst>
              <a:gd name="adj" fmla="val 50000"/>
            </a:avLst>
          </a:prstGeom>
          <a:solidFill>
            <a:srgbClr val="10C7C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0B1118"/>
                </a:solidFill>
                <a:latin typeface="Noto Sans SC"/>
              </a:rPr>
              <a:t>CET4 · CET6 · 托福 · GRE</a:t>
            </a:r>
            <a:endParaRPr/>
          </a:p>
        </p:txBody>
      </p:sp>
      <p:cxnSp>
        <p:nvCxnSpPr>
          <p:cNvPr id="274" name="Connector 12"/>
          <p:cNvCxnSpPr/>
          <p:nvPr/>
        </p:nvCxnSpPr>
        <p:spPr>
          <a:xfrm>
            <a:off x="8247888" y="4480560"/>
            <a:ext cx="2944368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13"/>
          <p:cNvSpPr txBox="1"/>
          <p:nvPr/>
        </p:nvSpPr>
        <p:spPr>
          <a:xfrm>
            <a:off x="8247888" y="4645152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SC"/>
              </a:rPr>
              <a:t>收藏后进入单词本，
下一次复习按间隔自动排期。</a:t>
            </a:r>
            <a:endParaRPr/>
          </a:p>
        </p:txBody>
      </p:sp>
      <p:sp>
        <p:nvSpPr>
          <p:cNvPr id="276" name="TextBox 14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277" name="TextBox 15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04 / PRODUCT MAP</a:t>
            </a:r>
            <a:endParaRPr/>
          </a:p>
        </p:txBody>
      </p:sp>
      <p:sp>
        <p:nvSpPr>
          <p:cNvPr id="280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六个模块，一条完整的学习链路</a:t>
            </a:r>
            <a:endParaRPr/>
          </a:p>
        </p:txBody>
      </p:sp>
      <p:sp>
        <p:nvSpPr>
          <p:cNvPr id="281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从桌面上的那只蜘蛛，到能被复习的单词本</a:t>
            </a:r>
            <a:endParaRPr/>
          </a:p>
        </p:txBody>
      </p:sp>
      <p:sp>
        <p:nvSpPr>
          <p:cNvPr id="282" name="Rounded Rectangle 4"/>
          <p:cNvSpPr/>
          <p:nvPr/>
        </p:nvSpPr>
        <p:spPr>
          <a:xfrm>
            <a:off x="603504" y="1792224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3" name="Rounded Rectangle 5"/>
          <p:cNvSpPr/>
          <p:nvPr/>
        </p:nvSpPr>
        <p:spPr>
          <a:xfrm>
            <a:off x="603504" y="1993392"/>
            <a:ext cx="50292" cy="274320"/>
          </a:xfrm>
          <a:prstGeom prst="roundRect">
            <a:avLst>
              <a:gd name="adj" fmla="val 36363"/>
            </a:avLst>
          </a:prstGeom>
          <a:solidFill>
            <a:srgbClr val="10C7C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4" name="TextBox 6"/>
          <p:cNvSpPr txBox="1"/>
          <p:nvPr/>
        </p:nvSpPr>
        <p:spPr>
          <a:xfrm>
            <a:off x="877824" y="202996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10C7C5"/>
                </a:solidFill>
                <a:latin typeface="Noto Sans SC"/>
              </a:rPr>
              <a:t>01</a:t>
            </a:r>
            <a:endParaRPr/>
          </a:p>
        </p:txBody>
      </p:sp>
      <p:sp>
        <p:nvSpPr>
          <p:cNvPr id="285" name="TextBox 7"/>
          <p:cNvSpPr txBox="1"/>
          <p:nvPr/>
        </p:nvSpPr>
        <p:spPr>
          <a:xfrm>
            <a:off x="877824" y="2249424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桌宠</a:t>
            </a:r>
            <a:endParaRPr/>
          </a:p>
        </p:txBody>
      </p:sp>
      <p:sp>
        <p:nvSpPr>
          <p:cNvPr id="286" name="TextBox 8"/>
          <p:cNvSpPr txBox="1"/>
          <p:nvPr/>
        </p:nvSpPr>
        <p:spPr>
          <a:xfrm>
            <a:off x="877824" y="2615184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八步足 + 两触须，两骨 IK 实时解算。拖动、缩放、
随机互动、点击穿透 —— 腿以外的地方不吃你的点击。</a:t>
            </a:r>
            <a:endParaRPr/>
          </a:p>
        </p:txBody>
      </p:sp>
      <p:sp>
        <p:nvSpPr>
          <p:cNvPr id="287" name="Rounded Rectangle 9"/>
          <p:cNvSpPr/>
          <p:nvPr/>
        </p:nvSpPr>
        <p:spPr>
          <a:xfrm>
            <a:off x="4366260" y="1792224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8" name="Rounded Rectangle 10"/>
          <p:cNvSpPr/>
          <p:nvPr/>
        </p:nvSpPr>
        <p:spPr>
          <a:xfrm>
            <a:off x="4366260" y="1993392"/>
            <a:ext cx="50292" cy="274320"/>
          </a:xfrm>
          <a:prstGeom prst="roundRect">
            <a:avLst>
              <a:gd name="adj" fmla="val 36363"/>
            </a:avLst>
          </a:prstGeom>
          <a:solidFill>
            <a:srgbClr val="4B6C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9" name="TextBox 11"/>
          <p:cNvSpPr txBox="1"/>
          <p:nvPr/>
        </p:nvSpPr>
        <p:spPr>
          <a:xfrm>
            <a:off x="4640580" y="202996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4B6CF5"/>
                </a:solidFill>
                <a:latin typeface="Noto Sans SC"/>
              </a:rPr>
              <a:t>02</a:t>
            </a:r>
            <a:endParaRPr/>
          </a:p>
        </p:txBody>
      </p:sp>
      <p:sp>
        <p:nvSpPr>
          <p:cNvPr id="290" name="TextBox 12"/>
          <p:cNvSpPr txBox="1"/>
          <p:nvPr/>
        </p:nvSpPr>
        <p:spPr>
          <a:xfrm>
            <a:off x="4640580" y="2249424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框选识词</a:t>
            </a:r>
            <a:endParaRPr/>
          </a:p>
        </p:txBody>
      </p:sp>
      <p:sp>
        <p:nvSpPr>
          <p:cNvPr id="291" name="TextBox 13"/>
          <p:cNvSpPr txBox="1"/>
          <p:nvPr/>
        </p:nvSpPr>
        <p:spPr>
          <a:xfrm>
            <a:off x="4640580" y="2615184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冻结桌面截图 → 拖拽框选 → 本地 OCR → 词形归一 →
按考纲挑词。整条链路不联网。</a:t>
            </a:r>
            <a:endParaRPr/>
          </a:p>
        </p:txBody>
      </p:sp>
      <p:sp>
        <p:nvSpPr>
          <p:cNvPr id="292" name="Rounded Rectangle 14"/>
          <p:cNvSpPr/>
          <p:nvPr/>
        </p:nvSpPr>
        <p:spPr>
          <a:xfrm>
            <a:off x="8129016" y="1792224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3" name="Rounded Rectangle 15"/>
          <p:cNvSpPr/>
          <p:nvPr/>
        </p:nvSpPr>
        <p:spPr>
          <a:xfrm>
            <a:off x="8129016" y="1993392"/>
            <a:ext cx="50292" cy="274320"/>
          </a:xfrm>
          <a:prstGeom prst="roundRect">
            <a:avLst>
              <a:gd name="adj" fmla="val 36363"/>
            </a:avLst>
          </a:prstGeom>
          <a:solidFill>
            <a:srgbClr val="FF5B7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4" name="TextBox 16"/>
          <p:cNvSpPr txBox="1"/>
          <p:nvPr/>
        </p:nvSpPr>
        <p:spPr>
          <a:xfrm>
            <a:off x="8403336" y="2029967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FF5B7F"/>
                </a:solidFill>
                <a:latin typeface="Noto Sans SC"/>
              </a:rPr>
              <a:t>03</a:t>
            </a:r>
            <a:endParaRPr/>
          </a:p>
        </p:txBody>
      </p:sp>
      <p:sp>
        <p:nvSpPr>
          <p:cNvPr id="295" name="TextBox 17"/>
          <p:cNvSpPr txBox="1"/>
          <p:nvPr/>
        </p:nvSpPr>
        <p:spPr>
          <a:xfrm>
            <a:off x="8403336" y="2249424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八腿定位</a:t>
            </a:r>
            <a:endParaRPr/>
          </a:p>
        </p:txBody>
      </p:sp>
      <p:sp>
        <p:nvSpPr>
          <p:cNvPr id="296" name="TextBox 18"/>
          <p:cNvSpPr txBox="1"/>
          <p:nvPr/>
        </p:nvSpPr>
        <p:spPr>
          <a:xfrm>
            <a:off x="8403336" y="2615184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词级坐标分给八条腿，颜色即对应；够不着的词
只亮引导线，不把腿拉成射线。</a:t>
            </a:r>
            <a:endParaRPr/>
          </a:p>
        </p:txBody>
      </p:sp>
      <p:sp>
        <p:nvSpPr>
          <p:cNvPr id="297" name="Rounded Rectangle 19"/>
          <p:cNvSpPr/>
          <p:nvPr/>
        </p:nvSpPr>
        <p:spPr>
          <a:xfrm>
            <a:off x="603504" y="3694176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8" name="Rounded Rectangle 20"/>
          <p:cNvSpPr/>
          <p:nvPr/>
        </p:nvSpPr>
        <p:spPr>
          <a:xfrm>
            <a:off x="603504" y="3895344"/>
            <a:ext cx="50292" cy="274320"/>
          </a:xfrm>
          <a:prstGeom prst="roundRect">
            <a:avLst>
              <a:gd name="adj" fmla="val 36363"/>
            </a:avLst>
          </a:prstGeom>
          <a:solidFill>
            <a:srgbClr val="F0A32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9" name="TextBox 21"/>
          <p:cNvSpPr txBox="1"/>
          <p:nvPr/>
        </p:nvSpPr>
        <p:spPr>
          <a:xfrm>
            <a:off x="877824" y="39319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F0A32E"/>
                </a:solidFill>
                <a:latin typeface="Noto Sans SC"/>
              </a:rPr>
              <a:t>04</a:t>
            </a:r>
            <a:endParaRPr/>
          </a:p>
        </p:txBody>
      </p:sp>
      <p:sp>
        <p:nvSpPr>
          <p:cNvPr id="300" name="TextBox 22"/>
          <p:cNvSpPr txBox="1"/>
          <p:nvPr/>
        </p:nvSpPr>
        <p:spPr>
          <a:xfrm>
            <a:off x="877824" y="4151376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单词本</a:t>
            </a:r>
            <a:endParaRPr/>
          </a:p>
        </p:txBody>
      </p:sp>
      <p:sp>
        <p:nvSpPr>
          <p:cNvPr id="301" name="TextBox 23"/>
          <p:cNvSpPr txBox="1"/>
          <p:nvPr/>
        </p:nvSpPr>
        <p:spPr>
          <a:xfrm>
            <a:off x="877824" y="4517136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搜索、分类、删除；收藏即入复习队列，答对进档、
答错退回次日。</a:t>
            </a:r>
            <a:endParaRPr/>
          </a:p>
        </p:txBody>
      </p:sp>
      <p:sp>
        <p:nvSpPr>
          <p:cNvPr id="302" name="Rounded Rectangle 24"/>
          <p:cNvSpPr/>
          <p:nvPr/>
        </p:nvSpPr>
        <p:spPr>
          <a:xfrm>
            <a:off x="4366260" y="3694176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3" name="Rounded Rectangle 25"/>
          <p:cNvSpPr/>
          <p:nvPr/>
        </p:nvSpPr>
        <p:spPr>
          <a:xfrm>
            <a:off x="4366260" y="3895344"/>
            <a:ext cx="50292" cy="274320"/>
          </a:xfrm>
          <a:prstGeom prst="roundRect">
            <a:avLst>
              <a:gd name="adj" fmla="val 36363"/>
            </a:avLst>
          </a:prstGeom>
          <a:solidFill>
            <a:srgbClr val="3E9E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4" name="TextBox 26"/>
          <p:cNvSpPr txBox="1"/>
          <p:nvPr/>
        </p:nvSpPr>
        <p:spPr>
          <a:xfrm>
            <a:off x="4640580" y="39319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3E9E6E"/>
                </a:solidFill>
                <a:latin typeface="Noto Sans SC"/>
              </a:rPr>
              <a:t>05</a:t>
            </a:r>
            <a:endParaRPr/>
          </a:p>
        </p:txBody>
      </p:sp>
      <p:sp>
        <p:nvSpPr>
          <p:cNvPr id="305" name="TextBox 27"/>
          <p:cNvSpPr txBox="1"/>
          <p:nvPr/>
        </p:nvSpPr>
        <p:spPr>
          <a:xfrm>
            <a:off x="4640580" y="4151376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启动台</a:t>
            </a:r>
            <a:endParaRPr/>
          </a:p>
        </p:txBody>
      </p:sp>
      <p:sp>
        <p:nvSpPr>
          <p:cNvPr id="306" name="TextBox 28"/>
          <p:cNvSpPr txBox="1"/>
          <p:nvPr/>
        </p:nvSpPr>
        <p:spPr>
          <a:xfrm>
            <a:off x="4640580" y="4517136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玻璃罐里养着待部署的蜘蛛；今日复习、学习日志、
换装、设置都在一个入口。</a:t>
            </a:r>
            <a:endParaRPr/>
          </a:p>
        </p:txBody>
      </p:sp>
      <p:sp>
        <p:nvSpPr>
          <p:cNvPr id="307" name="Rounded Rectangle 29"/>
          <p:cNvSpPr/>
          <p:nvPr/>
        </p:nvSpPr>
        <p:spPr>
          <a:xfrm>
            <a:off x="8129016" y="3694176"/>
            <a:ext cx="3529584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8" name="Rounded Rectangle 30"/>
          <p:cNvSpPr/>
          <p:nvPr/>
        </p:nvSpPr>
        <p:spPr>
          <a:xfrm>
            <a:off x="8129016" y="3895344"/>
            <a:ext cx="50292" cy="274320"/>
          </a:xfrm>
          <a:prstGeom prst="roundRect">
            <a:avLst>
              <a:gd name="adj" fmla="val 36363"/>
            </a:avLst>
          </a:prstGeom>
          <a:solidFill>
            <a:srgbClr val="7C6B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9" name="TextBox 31"/>
          <p:cNvSpPr txBox="1"/>
          <p:nvPr/>
        </p:nvSpPr>
        <p:spPr>
          <a:xfrm>
            <a:off x="8403336" y="39319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7C6BD6"/>
                </a:solidFill>
                <a:latin typeface="Noto Sans SC"/>
              </a:rPr>
              <a:t>06</a:t>
            </a:r>
            <a:endParaRPr/>
          </a:p>
        </p:txBody>
      </p:sp>
      <p:sp>
        <p:nvSpPr>
          <p:cNvPr id="310" name="TextBox 32"/>
          <p:cNvSpPr txBox="1"/>
          <p:nvPr/>
        </p:nvSpPr>
        <p:spPr>
          <a:xfrm>
            <a:off x="8403336" y="4151376"/>
            <a:ext cx="3026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0151C"/>
                </a:solidFill>
                <a:latin typeface="Noto Sans SC"/>
              </a:rPr>
              <a:t>皮肤与个性化</a:t>
            </a:r>
            <a:endParaRPr/>
          </a:p>
        </p:txBody>
      </p:sp>
      <p:sp>
        <p:nvSpPr>
          <p:cNvPr id="311" name="TextBox 33"/>
          <p:cNvSpPr txBox="1"/>
          <p:nvPr/>
        </p:nvSpPr>
        <p:spPr>
          <a:xfrm>
            <a:off x="8403336" y="4517136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原皮 / 白跳蛛 / 像素蛛 / 奶蛛四套，点击即换，
桌宠与启动台双向同步。</a:t>
            </a:r>
            <a:endParaRPr/>
          </a:p>
        </p:txBody>
      </p:sp>
      <p:sp>
        <p:nvSpPr>
          <p:cNvPr id="312" name="TextBox 34"/>
          <p:cNvSpPr txBox="1"/>
          <p:nvPr/>
        </p:nvSpPr>
        <p:spPr>
          <a:xfrm>
            <a:off x="603504" y="5870448"/>
            <a:ext cx="109846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71"/>
                </a:solidFill>
                <a:latin typeface="Noto Sans SC"/>
              </a:rPr>
              <a:t>六个模块共用同一份 wordbook.json、同一套设置键；换皮肤不会打断正在进行的步态。</a:t>
            </a:r>
            <a:endParaRPr/>
          </a:p>
        </p:txBody>
      </p:sp>
      <p:sp>
        <p:nvSpPr>
          <p:cNvPr id="313" name="TextBox 35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314" name="TextBox 36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05 / INTERFACE · LAUNCHER</a:t>
            </a:r>
            <a:endParaRPr/>
          </a:p>
        </p:txBody>
      </p:sp>
      <p:sp>
        <p:nvSpPr>
          <p:cNvPr id="317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启动台是「养蜘蛛的地方」</a:t>
            </a:r>
            <a:endParaRPr/>
          </a:p>
        </p:txBody>
      </p:sp>
      <p:sp>
        <p:nvSpPr>
          <p:cNvPr id="318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今日复习、学习日志、部署按钮 —— 一个窗口管住全部日常</a:t>
            </a:r>
            <a:endParaRPr/>
          </a:p>
        </p:txBody>
      </p:sp>
      <p:pic>
        <p:nvPicPr>
          <p:cNvPr id="319" name="Picture 4" descr="launcher_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177" y="1700784"/>
            <a:ext cx="6842132" cy="4517136"/>
          </a:xfrm>
          <a:prstGeom prst="rect">
            <a:avLst/>
          </a:prstGeom>
        </p:spPr>
      </p:pic>
      <p:sp>
        <p:nvSpPr>
          <p:cNvPr id="320" name="Rounded Rectangle 5"/>
          <p:cNvSpPr/>
          <p:nvPr/>
        </p:nvSpPr>
        <p:spPr>
          <a:xfrm>
            <a:off x="808033" y="1691640"/>
            <a:ext cx="6860420" cy="4535424"/>
          </a:xfrm>
          <a:prstGeom prst="roundRect">
            <a:avLst>
              <a:gd name="adj" fmla="val 2822"/>
            </a:avLst>
          </a:prstGeom>
          <a:noFill/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1" name="TextBox 6"/>
          <p:cNvSpPr txBox="1"/>
          <p:nvPr/>
        </p:nvSpPr>
        <p:spPr>
          <a:xfrm>
            <a:off x="8183879" y="175564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8F8D"/>
                </a:solidFill>
                <a:latin typeface="Noto Sans SC"/>
              </a:rPr>
              <a:t>左侧导航</a:t>
            </a:r>
            <a:endParaRPr/>
          </a:p>
        </p:txBody>
      </p:sp>
      <p:sp>
        <p:nvSpPr>
          <p:cNvPr id="322" name="TextBox 7"/>
          <p:cNvSpPr txBox="1"/>
          <p:nvPr/>
        </p:nvSpPr>
        <p:spPr>
          <a:xfrm>
            <a:off x="8183879" y="2029968"/>
            <a:ext cx="32461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71"/>
                </a:solidFill>
                <a:latin typeface="Noto Sans SC"/>
              </a:rPr>
              <a:t>今日复习卡读的是真实词库：剩余未复习 / 总共多少词。</a:t>
            </a:r>
            <a:endParaRPr/>
          </a:p>
        </p:txBody>
      </p:sp>
      <p:cxnSp>
        <p:nvCxnSpPr>
          <p:cNvPr id="323" name="Connector 8"/>
          <p:cNvCxnSpPr/>
          <p:nvPr/>
        </p:nvCxnSpPr>
        <p:spPr>
          <a:xfrm>
            <a:off x="8183879" y="2743200"/>
            <a:ext cx="3404312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9"/>
          <p:cNvSpPr txBox="1"/>
          <p:nvPr/>
        </p:nvSpPr>
        <p:spPr>
          <a:xfrm>
            <a:off x="8183879" y="292608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8F8D"/>
                </a:solidFill>
                <a:latin typeface="Noto Sans SC"/>
              </a:rPr>
              <a:t>主区</a:t>
            </a:r>
            <a:endParaRPr/>
          </a:p>
        </p:txBody>
      </p:sp>
      <p:sp>
        <p:nvSpPr>
          <p:cNvPr id="325" name="TextBox 10"/>
          <p:cNvSpPr txBox="1"/>
          <p:nvPr/>
        </p:nvSpPr>
        <p:spPr>
          <a:xfrm>
            <a:off x="8183879" y="32004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71"/>
                </a:solidFill>
                <a:latin typeface="Noto Sans SC"/>
              </a:rPr>
              <a:t>展示区里那只蜘蛛就是待部署的那只；下面是真实事件驱动的学习日志。</a:t>
            </a:r>
            <a:endParaRPr/>
          </a:p>
        </p:txBody>
      </p:sp>
      <p:cxnSp>
        <p:nvCxnSpPr>
          <p:cNvPr id="326" name="Connector 11"/>
          <p:cNvCxnSpPr/>
          <p:nvPr/>
        </p:nvCxnSpPr>
        <p:spPr>
          <a:xfrm>
            <a:off x="8183879" y="4151376"/>
            <a:ext cx="3404312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12"/>
          <p:cNvSpPr txBox="1"/>
          <p:nvPr/>
        </p:nvSpPr>
        <p:spPr>
          <a:xfrm>
            <a:off x="8183879" y="433425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8F8D"/>
                </a:solidFill>
                <a:latin typeface="Noto Sans SC"/>
              </a:rPr>
              <a:t>部署</a:t>
            </a:r>
            <a:endParaRPr/>
          </a:p>
        </p:txBody>
      </p:sp>
      <p:sp>
        <p:nvSpPr>
          <p:cNvPr id="328" name="TextBox 13"/>
          <p:cNvSpPr txBox="1"/>
          <p:nvPr/>
        </p:nvSpPr>
        <p:spPr>
          <a:xfrm>
            <a:off x="8183879" y="4608576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571"/>
                </a:solidFill>
                <a:latin typeface="Noto Sans SC"/>
              </a:rPr>
              <a:t>罐体三档裂纹 → 碎网闪白 → 蜘蛛爬出落到桌面；右键「回到启动台」原路收回。</a:t>
            </a:r>
            <a:endParaRPr/>
          </a:p>
        </p:txBody>
      </p:sp>
      <p:sp>
        <p:nvSpPr>
          <p:cNvPr id="329" name="TextBox 14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330" name="TextBox 15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06 / INTERFACE · SETTINGS</a:t>
            </a:r>
            <a:endParaRPr/>
          </a:p>
        </p:txBody>
      </p:sp>
      <p:sp>
        <p:nvSpPr>
          <p:cNvPr id="333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换装与设置，都是即时生效</a:t>
            </a:r>
            <a:endParaRPr/>
          </a:p>
        </p:txBody>
      </p:sp>
      <p:sp>
        <p:nvSpPr>
          <p:cNvPr id="334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四套皮肤共用同一套腿，切换不打断正在进行的步态</a:t>
            </a:r>
            <a:endParaRPr/>
          </a:p>
        </p:txBody>
      </p:sp>
      <p:pic>
        <p:nvPicPr>
          <p:cNvPr id="335" name="Picture 4" descr="launcher_ski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38203"/>
            <a:ext cx="5440680" cy="3591905"/>
          </a:xfrm>
          <a:prstGeom prst="rect">
            <a:avLst/>
          </a:prstGeom>
        </p:spPr>
      </p:pic>
      <p:sp>
        <p:nvSpPr>
          <p:cNvPr id="336" name="Rounded Rectangle 5"/>
          <p:cNvSpPr/>
          <p:nvPr/>
        </p:nvSpPr>
        <p:spPr>
          <a:xfrm>
            <a:off x="594360" y="1729059"/>
            <a:ext cx="5458968" cy="3610193"/>
          </a:xfrm>
          <a:prstGeom prst="roundRect">
            <a:avLst>
              <a:gd name="adj" fmla="val 3545"/>
            </a:avLst>
          </a:prstGeom>
          <a:noFill/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7" name="Picture 6" descr="launcher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738203"/>
            <a:ext cx="5440680" cy="3591905"/>
          </a:xfrm>
          <a:prstGeom prst="rect">
            <a:avLst/>
          </a:prstGeom>
        </p:spPr>
      </p:pic>
      <p:sp>
        <p:nvSpPr>
          <p:cNvPr id="338" name="Rounded Rectangle 7"/>
          <p:cNvSpPr/>
          <p:nvPr/>
        </p:nvSpPr>
        <p:spPr>
          <a:xfrm>
            <a:off x="6263640" y="1729059"/>
            <a:ext cx="5458968" cy="3610193"/>
          </a:xfrm>
          <a:prstGeom prst="roundRect">
            <a:avLst>
              <a:gd name="adj" fmla="val 3545"/>
            </a:avLst>
          </a:prstGeom>
          <a:noFill/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9" name="TextBox 8"/>
          <p:cNvSpPr txBox="1"/>
          <p:nvPr/>
        </p:nvSpPr>
        <p:spPr>
          <a:xfrm>
            <a:off x="603504" y="546811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0E8F8D"/>
                </a:solidFill>
                <a:latin typeface="Noto Sans SC"/>
              </a:rPr>
              <a:t>换装</a:t>
            </a:r>
            <a:endParaRPr/>
          </a:p>
        </p:txBody>
      </p:sp>
      <p:sp>
        <p:nvSpPr>
          <p:cNvPr id="340" name="TextBox 9"/>
          <p:cNvSpPr txBox="1"/>
          <p:nvPr/>
        </p:nvSpPr>
        <p:spPr>
          <a:xfrm>
            <a:off x="603504" y="5779008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只换身体与头部；腿长、腿根、命中区、窗口尺寸四套完全一致，已部署的桌宠同步生效。</a:t>
            </a:r>
            <a:endParaRPr/>
          </a:p>
        </p:txBody>
      </p:sp>
      <p:sp>
        <p:nvSpPr>
          <p:cNvPr id="341" name="TextBox 10"/>
          <p:cNvSpPr txBox="1"/>
          <p:nvPr/>
        </p:nvSpPr>
        <p:spPr>
          <a:xfrm>
            <a:off x="6272784" y="546811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0E8F8D"/>
                </a:solidFill>
                <a:latin typeface="Noto Sans SC"/>
              </a:rPr>
              <a:t>设置</a:t>
            </a:r>
            <a:endParaRPr/>
          </a:p>
        </p:txBody>
      </p:sp>
      <p:sp>
        <p:nvSpPr>
          <p:cNvPr id="342" name="TextBox 11"/>
          <p:cNvSpPr txBox="1"/>
          <p:nvPr/>
        </p:nvSpPr>
        <p:spPr>
          <a:xfrm>
            <a:off x="6272784" y="5779008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识词上限 8/16/32/48、最小置信度、桌宠大小、窗口置顶、释义卡、开机自启、启动后自动部署。</a:t>
            </a:r>
            <a:endParaRPr/>
          </a:p>
        </p:txBody>
      </p:sp>
      <p:sp>
        <p:nvSpPr>
          <p:cNvPr id="343" name="TextBox 12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344" name="TextBox 13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07 / DICTIONARY</a:t>
            </a:r>
            <a:endParaRPr/>
          </a:p>
        </p:txBody>
      </p:sp>
      <p:sp>
        <p:nvSpPr>
          <p:cNvPr id="347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词库不是接口，是随包运行的三张表</a:t>
            </a:r>
            <a:endParaRPr/>
          </a:p>
        </p:txBody>
      </p:sp>
      <p:sp>
        <p:nvSpPr>
          <p:cNvPr id="348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断网、机场、没信号的高铁上，释义和考纲标签照样给得出来</a:t>
            </a:r>
            <a:endParaRPr/>
          </a:p>
        </p:txBody>
      </p:sp>
      <p:sp>
        <p:nvSpPr>
          <p:cNvPr id="349" name="TextBox 4"/>
          <p:cNvSpPr txBox="1"/>
          <p:nvPr/>
        </p:nvSpPr>
        <p:spPr>
          <a:xfrm>
            <a:off x="603504" y="1828800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151C"/>
                </a:solidFill>
                <a:latin typeface="Noto Sans SC"/>
              </a:rPr>
              <a:t>75.8 万</a:t>
            </a:r>
            <a:endParaRPr/>
          </a:p>
        </p:txBody>
      </p:sp>
      <p:cxnSp>
        <p:nvCxnSpPr>
          <p:cNvPr id="350" name="Connector 5"/>
          <p:cNvCxnSpPr/>
          <p:nvPr/>
        </p:nvCxnSpPr>
        <p:spPr>
          <a:xfrm>
            <a:off x="603504" y="2542032"/>
            <a:ext cx="2395728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6"/>
          <p:cNvSpPr txBox="1"/>
          <p:nvPr/>
        </p:nvSpPr>
        <p:spPr>
          <a:xfrm>
            <a:off x="603504" y="26883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8F8D"/>
                </a:solidFill>
                <a:latin typeface="Noto Sans SC"/>
              </a:rPr>
              <a:t>ECDICT 全量词条</a:t>
            </a:r>
            <a:endParaRPr/>
          </a:p>
        </p:txBody>
      </p:sp>
      <p:sp>
        <p:nvSpPr>
          <p:cNvPr id="352" name="TextBox 7"/>
          <p:cNvSpPr txBox="1"/>
          <p:nvPr/>
        </p:nvSpPr>
        <p:spPr>
          <a:xfrm>
            <a:off x="603504" y="2980944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含 5.8 万条词形映射</a:t>
            </a:r>
            <a:endParaRPr/>
          </a:p>
        </p:txBody>
      </p:sp>
      <p:sp>
        <p:nvSpPr>
          <p:cNvPr id="353" name="TextBox 8"/>
          <p:cNvSpPr txBox="1"/>
          <p:nvPr/>
        </p:nvSpPr>
        <p:spPr>
          <a:xfrm>
            <a:off x="3401568" y="1828800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151C"/>
                </a:solidFill>
                <a:latin typeface="Noto Sans SC"/>
              </a:rPr>
              <a:t>14,942</a:t>
            </a:r>
            <a:endParaRPr/>
          </a:p>
        </p:txBody>
      </p:sp>
      <p:cxnSp>
        <p:nvCxnSpPr>
          <p:cNvPr id="354" name="Connector 9"/>
          <p:cNvCxnSpPr/>
          <p:nvPr/>
        </p:nvCxnSpPr>
        <p:spPr>
          <a:xfrm>
            <a:off x="3401568" y="2542032"/>
            <a:ext cx="2395728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TextBox 10"/>
          <p:cNvSpPr txBox="1"/>
          <p:nvPr/>
        </p:nvSpPr>
        <p:spPr>
          <a:xfrm>
            <a:off x="3401568" y="26883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8F8D"/>
                </a:solidFill>
                <a:latin typeface="Noto Sans SC"/>
              </a:rPr>
              <a:t>考纲词条</a:t>
            </a:r>
            <a:endParaRPr/>
          </a:p>
        </p:txBody>
      </p:sp>
      <p:sp>
        <p:nvSpPr>
          <p:cNvPr id="356" name="TextBox 11"/>
          <p:cNvSpPr txBox="1"/>
          <p:nvPr/>
        </p:nvSpPr>
        <p:spPr>
          <a:xfrm>
            <a:off x="3401568" y="2980944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四级 / 六级 / 考研 / 雅思 / 托福 / GRE</a:t>
            </a:r>
            <a:endParaRPr/>
          </a:p>
        </p:txBody>
      </p:sp>
      <p:sp>
        <p:nvSpPr>
          <p:cNvPr id="357" name="TextBox 12"/>
          <p:cNvSpPr txBox="1"/>
          <p:nvPr/>
        </p:nvSpPr>
        <p:spPr>
          <a:xfrm>
            <a:off x="6199632" y="1828800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151C"/>
                </a:solidFill>
                <a:latin typeface="Noto Sans SC"/>
              </a:rPr>
              <a:t>307</a:t>
            </a:r>
            <a:endParaRPr/>
          </a:p>
        </p:txBody>
      </p:sp>
      <p:cxnSp>
        <p:nvCxnSpPr>
          <p:cNvPr id="358" name="Connector 13"/>
          <p:cNvCxnSpPr/>
          <p:nvPr/>
        </p:nvCxnSpPr>
        <p:spPr>
          <a:xfrm>
            <a:off x="6199632" y="2542032"/>
            <a:ext cx="2395728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TextBox 14"/>
          <p:cNvSpPr txBox="1"/>
          <p:nvPr/>
        </p:nvSpPr>
        <p:spPr>
          <a:xfrm>
            <a:off x="6199632" y="26883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8F8D"/>
                </a:solidFill>
                <a:latin typeface="Noto Sans SC"/>
              </a:rPr>
              <a:t>工业英语词条</a:t>
            </a:r>
            <a:endParaRPr/>
          </a:p>
        </p:txBody>
      </p:sp>
      <p:sp>
        <p:nvSpPr>
          <p:cNvPr id="360" name="TextBox 15"/>
          <p:cNvSpPr txBox="1"/>
          <p:nvPr/>
        </p:nvSpPr>
        <p:spPr>
          <a:xfrm>
            <a:off x="6199632" y="2980944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叠加在通用释义之前</a:t>
            </a:r>
            <a:endParaRPr/>
          </a:p>
        </p:txBody>
      </p:sp>
      <p:sp>
        <p:nvSpPr>
          <p:cNvPr id="361" name="TextBox 16"/>
          <p:cNvSpPr txBox="1"/>
          <p:nvPr/>
        </p:nvSpPr>
        <p:spPr>
          <a:xfrm>
            <a:off x="8997696" y="1828800"/>
            <a:ext cx="25603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151C"/>
                </a:solidFill>
                <a:latin typeface="Noto Sans SC"/>
              </a:rPr>
              <a:t>0</a:t>
            </a:r>
            <a:endParaRPr/>
          </a:p>
        </p:txBody>
      </p:sp>
      <p:cxnSp>
        <p:nvCxnSpPr>
          <p:cNvPr id="362" name="Connector 17"/>
          <p:cNvCxnSpPr/>
          <p:nvPr/>
        </p:nvCxnSpPr>
        <p:spPr>
          <a:xfrm>
            <a:off x="8997696" y="2542032"/>
            <a:ext cx="2395728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TextBox 18"/>
          <p:cNvSpPr txBox="1"/>
          <p:nvPr/>
        </p:nvSpPr>
        <p:spPr>
          <a:xfrm>
            <a:off x="8997696" y="2688336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8F8D"/>
                </a:solidFill>
                <a:latin typeface="Noto Sans SC"/>
              </a:rPr>
              <a:t>网络请求</a:t>
            </a:r>
            <a:endParaRPr/>
          </a:p>
        </p:txBody>
      </p:sp>
      <p:sp>
        <p:nvSpPr>
          <p:cNvPr id="364" name="TextBox 19"/>
          <p:cNvSpPr txBox="1"/>
          <p:nvPr/>
        </p:nvSpPr>
        <p:spPr>
          <a:xfrm>
            <a:off x="8997696" y="2980944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识别与查词都不需要联网</a:t>
            </a:r>
            <a:endParaRPr/>
          </a:p>
        </p:txBody>
      </p:sp>
      <p:sp>
        <p:nvSpPr>
          <p:cNvPr id="365" name="TextBox 20"/>
          <p:cNvSpPr txBox="1"/>
          <p:nvPr/>
        </p:nvSpPr>
        <p:spPr>
          <a:xfrm>
            <a:off x="603504" y="3785615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F8D"/>
                </a:solidFill>
                <a:latin typeface="Noto Sans SC"/>
              </a:rPr>
              <a:t>八档考纲筛选</a:t>
            </a:r>
            <a:endParaRPr/>
          </a:p>
        </p:txBody>
      </p:sp>
      <p:sp>
        <p:nvSpPr>
          <p:cNvPr id="366" name="Rounded Rectangle 21"/>
          <p:cNvSpPr/>
          <p:nvPr/>
        </p:nvSpPr>
        <p:spPr>
          <a:xfrm>
            <a:off x="6035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四级</a:t>
            </a:r>
            <a:endParaRPr/>
          </a:p>
        </p:txBody>
      </p:sp>
      <p:sp>
        <p:nvSpPr>
          <p:cNvPr id="367" name="Rounded Rectangle 22"/>
          <p:cNvSpPr/>
          <p:nvPr/>
        </p:nvSpPr>
        <p:spPr>
          <a:xfrm>
            <a:off x="19751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六级</a:t>
            </a:r>
            <a:endParaRPr/>
          </a:p>
        </p:txBody>
      </p:sp>
      <p:sp>
        <p:nvSpPr>
          <p:cNvPr id="368" name="Rounded Rectangle 23"/>
          <p:cNvSpPr/>
          <p:nvPr/>
        </p:nvSpPr>
        <p:spPr>
          <a:xfrm>
            <a:off x="33467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考研</a:t>
            </a:r>
            <a:endParaRPr/>
          </a:p>
        </p:txBody>
      </p:sp>
      <p:sp>
        <p:nvSpPr>
          <p:cNvPr id="369" name="Rounded Rectangle 24"/>
          <p:cNvSpPr/>
          <p:nvPr/>
        </p:nvSpPr>
        <p:spPr>
          <a:xfrm>
            <a:off x="47183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雅思</a:t>
            </a:r>
            <a:endParaRPr/>
          </a:p>
        </p:txBody>
      </p:sp>
      <p:sp>
        <p:nvSpPr>
          <p:cNvPr id="370" name="Rounded Rectangle 25"/>
          <p:cNvSpPr/>
          <p:nvPr/>
        </p:nvSpPr>
        <p:spPr>
          <a:xfrm>
            <a:off x="60899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托福</a:t>
            </a:r>
            <a:endParaRPr/>
          </a:p>
        </p:txBody>
      </p:sp>
      <p:sp>
        <p:nvSpPr>
          <p:cNvPr id="371" name="Rounded Rectangle 26"/>
          <p:cNvSpPr/>
          <p:nvPr/>
        </p:nvSpPr>
        <p:spPr>
          <a:xfrm>
            <a:off x="74615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GRE</a:t>
            </a:r>
            <a:endParaRPr/>
          </a:p>
        </p:txBody>
      </p:sp>
      <p:sp>
        <p:nvSpPr>
          <p:cNvPr id="372" name="Rounded Rectangle 27"/>
          <p:cNvSpPr/>
          <p:nvPr/>
        </p:nvSpPr>
        <p:spPr>
          <a:xfrm>
            <a:off x="88331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工业英语</a:t>
            </a:r>
            <a:endParaRPr/>
          </a:p>
        </p:txBody>
      </p:sp>
      <p:sp>
        <p:nvSpPr>
          <p:cNvPr id="373" name="Rounded Rectangle 28"/>
          <p:cNvSpPr/>
          <p:nvPr/>
        </p:nvSpPr>
        <p:spPr>
          <a:xfrm>
            <a:off x="10204704" y="4114800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151C"/>
                </a:solidFill>
                <a:latin typeface="Noto Sans SC"/>
              </a:rPr>
              <a:t>全部</a:t>
            </a:r>
            <a:endParaRPr/>
          </a:p>
        </p:txBody>
      </p:sp>
      <p:sp>
        <p:nvSpPr>
          <p:cNvPr id="374" name="TextBox 29"/>
          <p:cNvSpPr txBox="1"/>
          <p:nvPr/>
        </p:nvSpPr>
        <p:spPr>
          <a:xfrm>
            <a:off x="603504" y="477316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挑词时先按档位打标，再按「是否表外 / 历史错误次数」排序；虚词直接跳过，词形先归一到原形再查。
查不到的词在第二轮补回来，标成「词表外」—— 不静默丢词。已掌握（阶段 ≥3 且对多于错）的词会自动跳过。</a:t>
            </a:r>
            <a:endParaRPr/>
          </a:p>
        </p:txBody>
      </p:sp>
      <p:sp>
        <p:nvSpPr>
          <p:cNvPr id="375" name="TextBox 30"/>
          <p:cNvSpPr txBox="1"/>
          <p:nvPr/>
        </p:nvSpPr>
        <p:spPr>
          <a:xfrm>
            <a:off x="603504" y="544982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5B6571"/>
                </a:solidFill>
                <a:latin typeface="Noto Sans SC"/>
              </a:rPr>
              <a:t>挑词流水线</a:t>
            </a:r>
            <a:endParaRPr/>
          </a:p>
        </p:txBody>
      </p:sp>
      <p:sp>
        <p:nvSpPr>
          <p:cNvPr id="376" name="TextBox 31"/>
          <p:cNvSpPr txBox="1"/>
          <p:nvPr/>
        </p:nvSpPr>
        <p:spPr>
          <a:xfrm>
            <a:off x="603504" y="572414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C7C5"/>
                </a:solidFill>
                <a:latin typeface="Noto Sans SC"/>
              </a:rPr>
              <a:t>1</a:t>
            </a:r>
            <a:endParaRPr/>
          </a:p>
        </p:txBody>
      </p:sp>
      <p:sp>
        <p:nvSpPr>
          <p:cNvPr id="377" name="TextBox 32"/>
          <p:cNvSpPr txBox="1"/>
          <p:nvPr/>
        </p:nvSpPr>
        <p:spPr>
          <a:xfrm>
            <a:off x="877824" y="5705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51C"/>
                </a:solidFill>
                <a:latin typeface="Noto Sans SC"/>
              </a:rPr>
              <a:t>分行取词</a:t>
            </a:r>
            <a:endParaRPr/>
          </a:p>
        </p:txBody>
      </p:sp>
      <p:sp>
        <p:nvSpPr>
          <p:cNvPr id="378" name="TextBox 33"/>
          <p:cNvSpPr txBox="1"/>
          <p:nvPr/>
        </p:nvSpPr>
        <p:spPr>
          <a:xfrm>
            <a:off x="2843784" y="570585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DAD"/>
                </a:solidFill>
                <a:latin typeface="Noto Sans SC"/>
              </a:rPr>
              <a:t>→</a:t>
            </a:r>
            <a:endParaRPr/>
          </a:p>
        </p:txBody>
      </p:sp>
      <p:sp>
        <p:nvSpPr>
          <p:cNvPr id="379" name="TextBox 34"/>
          <p:cNvSpPr txBox="1"/>
          <p:nvPr/>
        </p:nvSpPr>
        <p:spPr>
          <a:xfrm>
            <a:off x="3401568" y="572414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C7C5"/>
                </a:solidFill>
                <a:latin typeface="Noto Sans SC"/>
              </a:rPr>
              <a:t>2</a:t>
            </a:r>
            <a:endParaRPr/>
          </a:p>
        </p:txBody>
      </p:sp>
      <p:sp>
        <p:nvSpPr>
          <p:cNvPr id="380" name="TextBox 35"/>
          <p:cNvSpPr txBox="1"/>
          <p:nvPr/>
        </p:nvSpPr>
        <p:spPr>
          <a:xfrm>
            <a:off x="3675888" y="5705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51C"/>
                </a:solidFill>
                <a:latin typeface="Noto Sans SC"/>
              </a:rPr>
              <a:t>虚词跳过</a:t>
            </a:r>
            <a:endParaRPr/>
          </a:p>
        </p:txBody>
      </p:sp>
      <p:sp>
        <p:nvSpPr>
          <p:cNvPr id="381" name="TextBox 36"/>
          <p:cNvSpPr txBox="1"/>
          <p:nvPr/>
        </p:nvSpPr>
        <p:spPr>
          <a:xfrm>
            <a:off x="5641848" y="570585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DAD"/>
                </a:solidFill>
                <a:latin typeface="Noto Sans SC"/>
              </a:rPr>
              <a:t>→</a:t>
            </a:r>
            <a:endParaRPr/>
          </a:p>
        </p:txBody>
      </p:sp>
      <p:sp>
        <p:nvSpPr>
          <p:cNvPr id="382" name="TextBox 37"/>
          <p:cNvSpPr txBox="1"/>
          <p:nvPr/>
        </p:nvSpPr>
        <p:spPr>
          <a:xfrm>
            <a:off x="6199632" y="572414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C7C5"/>
                </a:solidFill>
                <a:latin typeface="Noto Sans SC"/>
              </a:rPr>
              <a:t>3</a:t>
            </a:r>
            <a:endParaRPr/>
          </a:p>
        </p:txBody>
      </p:sp>
      <p:sp>
        <p:nvSpPr>
          <p:cNvPr id="383" name="TextBox 38"/>
          <p:cNvSpPr txBox="1"/>
          <p:nvPr/>
        </p:nvSpPr>
        <p:spPr>
          <a:xfrm>
            <a:off x="6473952" y="5705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51C"/>
                </a:solidFill>
                <a:latin typeface="Noto Sans SC"/>
              </a:rPr>
              <a:t>词形归一 · 查表</a:t>
            </a:r>
            <a:endParaRPr/>
          </a:p>
        </p:txBody>
      </p:sp>
      <p:sp>
        <p:nvSpPr>
          <p:cNvPr id="384" name="TextBox 39"/>
          <p:cNvSpPr txBox="1"/>
          <p:nvPr/>
        </p:nvSpPr>
        <p:spPr>
          <a:xfrm>
            <a:off x="8439912" y="570585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DAD"/>
                </a:solidFill>
                <a:latin typeface="Noto Sans SC"/>
              </a:rPr>
              <a:t>→</a:t>
            </a:r>
            <a:endParaRPr/>
          </a:p>
        </p:txBody>
      </p:sp>
      <p:sp>
        <p:nvSpPr>
          <p:cNvPr id="385" name="TextBox 40"/>
          <p:cNvSpPr txBox="1"/>
          <p:nvPr/>
        </p:nvSpPr>
        <p:spPr>
          <a:xfrm>
            <a:off x="8997696" y="5724144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C7C5"/>
                </a:solidFill>
                <a:latin typeface="Noto Sans SC"/>
              </a:rPr>
              <a:t>4</a:t>
            </a:r>
            <a:endParaRPr/>
          </a:p>
        </p:txBody>
      </p:sp>
      <p:sp>
        <p:nvSpPr>
          <p:cNvPr id="386" name="TextBox 41"/>
          <p:cNvSpPr txBox="1"/>
          <p:nvPr/>
        </p:nvSpPr>
        <p:spPr>
          <a:xfrm>
            <a:off x="9272016" y="57058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51C"/>
                </a:solidFill>
                <a:latin typeface="Noto Sans SC"/>
              </a:rPr>
              <a:t>按考纲与错误率排序</a:t>
            </a:r>
            <a:endParaRPr/>
          </a:p>
        </p:txBody>
      </p:sp>
      <p:sp>
        <p:nvSpPr>
          <p:cNvPr id="387" name="TextBox 42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388" name="TextBox 43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3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1"/>
          <p:cNvSpPr txBox="1"/>
          <p:nvPr/>
        </p:nvSpPr>
        <p:spPr>
          <a:xfrm>
            <a:off x="603504" y="402336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10C7C5"/>
                </a:solidFill>
                <a:latin typeface="Noto Sans SC"/>
              </a:rPr>
              <a:t>08 / DIFFERENTIATOR</a:t>
            </a:r>
            <a:endParaRPr/>
          </a:p>
        </p:txBody>
      </p:sp>
      <p:sp>
        <p:nvSpPr>
          <p:cNvPr id="391" name="TextBox 2"/>
          <p:cNvSpPr txBox="1"/>
          <p:nvPr/>
        </p:nvSpPr>
        <p:spPr>
          <a:xfrm>
            <a:off x="603504" y="713232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FFFFFF"/>
                </a:solidFill>
                <a:latin typeface="Noto Sans SC"/>
              </a:rPr>
              <a:t>八条腿不是装饰，是定位系统</a:t>
            </a:r>
            <a:endParaRPr/>
          </a:p>
        </p:txBody>
      </p:sp>
      <p:sp>
        <p:nvSpPr>
          <p:cNvPr id="392" name="TextBox 3"/>
          <p:cNvSpPr txBox="1"/>
          <p:nvPr/>
        </p:nvSpPr>
        <p:spPr>
          <a:xfrm>
            <a:off x="603504" y="1298448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B8C4D2"/>
                </a:solidFill>
                <a:latin typeface="Noto Sans SC"/>
              </a:rPr>
              <a:t>每条腿都在做真实的「词 ↔ 屏幕坐标」分配</a:t>
            </a:r>
            <a:endParaRPr/>
          </a:p>
        </p:txBody>
      </p:sp>
      <p:sp>
        <p:nvSpPr>
          <p:cNvPr id="393" name="TextBox 4"/>
          <p:cNvSpPr txBox="1"/>
          <p:nvPr/>
        </p:nvSpPr>
        <p:spPr>
          <a:xfrm>
            <a:off x="603504" y="1975104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C7C5"/>
                </a:solidFill>
                <a:latin typeface="Noto Sans SC"/>
              </a:rPr>
              <a:t>1</a:t>
            </a:r>
            <a:endParaRPr/>
          </a:p>
        </p:txBody>
      </p:sp>
      <p:sp>
        <p:nvSpPr>
          <p:cNvPr id="394" name="TextBox 5"/>
          <p:cNvSpPr txBox="1"/>
          <p:nvPr/>
        </p:nvSpPr>
        <p:spPr>
          <a:xfrm>
            <a:off x="932688" y="193852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SC"/>
              </a:rPr>
              <a:t>8 步足 + 2 触须</a:t>
            </a:r>
            <a:endParaRPr/>
          </a:p>
        </p:txBody>
      </p:sp>
      <p:sp>
        <p:nvSpPr>
          <p:cNvPr id="395" name="TextBox 6"/>
          <p:cNvSpPr txBox="1"/>
          <p:nvPr/>
        </p:nvSpPr>
        <p:spPr>
          <a:xfrm>
            <a:off x="932688" y="2286000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4D2"/>
                </a:solidFill>
                <a:latin typeface="Noto Sans SC"/>
              </a:rPr>
              <a:t>每腿两骨 IK，膝盖弯曲侧固定；站着不动时膝盖会缓慢换边。</a:t>
            </a:r>
            <a:endParaRPr/>
          </a:p>
        </p:txBody>
      </p:sp>
      <p:sp>
        <p:nvSpPr>
          <p:cNvPr id="396" name="TextBox 7"/>
          <p:cNvSpPr txBox="1"/>
          <p:nvPr/>
        </p:nvSpPr>
        <p:spPr>
          <a:xfrm>
            <a:off x="603504" y="3273552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C7C5"/>
                </a:solidFill>
                <a:latin typeface="Noto Sans SC"/>
              </a:rPr>
              <a:t>2</a:t>
            </a:r>
            <a:endParaRPr/>
          </a:p>
        </p:txBody>
      </p:sp>
      <p:sp>
        <p:nvSpPr>
          <p:cNvPr id="397" name="TextBox 8"/>
          <p:cNvSpPr txBox="1"/>
          <p:nvPr/>
        </p:nvSpPr>
        <p:spPr>
          <a:xfrm>
            <a:off x="932688" y="323697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SC"/>
              </a:rPr>
              <a:t>落点是反解出来的</a:t>
            </a:r>
            <a:endParaRPr/>
          </a:p>
        </p:txBody>
      </p:sp>
      <p:sp>
        <p:nvSpPr>
          <p:cNvPr id="398" name="TextBox 9"/>
          <p:cNvSpPr txBox="1"/>
          <p:nvPr/>
        </p:nvSpPr>
        <p:spPr>
          <a:xfrm>
            <a:off x="932688" y="3584448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4D2"/>
                </a:solidFill>
                <a:latin typeface="Noto Sans SC"/>
              </a:rPr>
              <a:t>先定脚尖要踩的词框中心，再由 IK 反算髋与膝的角度。</a:t>
            </a:r>
            <a:endParaRPr/>
          </a:p>
        </p:txBody>
      </p:sp>
      <p:sp>
        <p:nvSpPr>
          <p:cNvPr id="399" name="TextBox 10"/>
          <p:cNvSpPr txBox="1"/>
          <p:nvPr/>
        </p:nvSpPr>
        <p:spPr>
          <a:xfrm>
            <a:off x="603504" y="4572000"/>
            <a:ext cx="329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C7C5"/>
                </a:solidFill>
                <a:latin typeface="Noto Sans SC"/>
              </a:rPr>
              <a:t>3</a:t>
            </a:r>
            <a:endParaRPr/>
          </a:p>
        </p:txBody>
      </p:sp>
      <p:sp>
        <p:nvSpPr>
          <p:cNvPr id="400" name="TextBox 11"/>
          <p:cNvSpPr txBox="1"/>
          <p:nvPr/>
        </p:nvSpPr>
        <p:spPr>
          <a:xfrm>
            <a:off x="932688" y="453542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SC"/>
              </a:rPr>
              <a:t>够不着就不硬拉</a:t>
            </a:r>
            <a:endParaRPr/>
          </a:p>
        </p:txBody>
      </p:sp>
      <p:sp>
        <p:nvSpPr>
          <p:cNvPr id="401" name="TextBox 12"/>
          <p:cNvSpPr txBox="1"/>
          <p:nvPr/>
        </p:nvSpPr>
        <p:spPr>
          <a:xfrm>
            <a:off x="932688" y="4882896"/>
            <a:ext cx="4892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4D2"/>
                </a:solidFill>
                <a:latin typeface="Noto Sans SC"/>
              </a:rPr>
              <a:t>超出腿长上限的词只亮引导线，避免把蜘蛛拉成一束射线。</a:t>
            </a:r>
            <a:endParaRPr/>
          </a:p>
        </p:txBody>
      </p:sp>
      <p:sp>
        <p:nvSpPr>
          <p:cNvPr id="402" name="Rounded Rectangle 13"/>
          <p:cNvSpPr/>
          <p:nvPr/>
        </p:nvSpPr>
        <p:spPr>
          <a:xfrm>
            <a:off x="5989320" y="1828800"/>
            <a:ext cx="5577840" cy="4023360"/>
          </a:xfrm>
          <a:prstGeom prst="roundRect">
            <a:avLst>
              <a:gd name="adj" fmla="val 4545"/>
            </a:avLst>
          </a:prstGeom>
          <a:solidFill>
            <a:srgbClr val="161F29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3" name="TextBox 14"/>
          <p:cNvSpPr txBox="1"/>
          <p:nvPr/>
        </p:nvSpPr>
        <p:spPr>
          <a:xfrm>
            <a:off x="6281928" y="208483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8E9AA6"/>
                </a:solidFill>
                <a:latin typeface="Noto Sans SC"/>
              </a:rPr>
              <a:t>一条腿的几何：目标决定姿态</a:t>
            </a:r>
            <a:endParaRPr/>
          </a:p>
        </p:txBody>
      </p:sp>
      <p:sp>
        <p:nvSpPr>
          <p:cNvPr id="404" name="Rounded Rectangle 15"/>
          <p:cNvSpPr/>
          <p:nvPr/>
        </p:nvSpPr>
        <p:spPr>
          <a:xfrm>
            <a:off x="9006840" y="2688336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1B2733"/>
          </a:solidFill>
          <a:ln w="15875">
            <a:solidFill>
              <a:srgbClr val="10C7C5"/>
            </a:solidFill>
          </a:ln>
          <a:effectLst/>
        </p:spPr>
        <p:txBody>
          <a:bodyPr wrap="square" rtlCol="0" anchor="ctr"/>
          <a:lstStyle/>
          <a:p>
            <a:pPr algn="ctr"/>
            <a:r>
              <a:rPr sz="1000" b="1">
                <a:solidFill>
                  <a:srgbClr val="CFF3F1"/>
                </a:solidFill>
                <a:latin typeface="Noto Sans SC"/>
              </a:rPr>
              <a:t>threshold</a:t>
            </a:r>
            <a:endParaRPr/>
          </a:p>
        </p:txBody>
      </p:sp>
      <p:cxnSp>
        <p:nvCxnSpPr>
          <p:cNvPr id="405" name="Connector 16"/>
          <p:cNvCxnSpPr/>
          <p:nvPr/>
        </p:nvCxnSpPr>
        <p:spPr>
          <a:xfrm>
            <a:off x="6702552" y="3566160"/>
            <a:ext cx="987552" cy="1280160"/>
          </a:xfrm>
          <a:prstGeom prst="line">
            <a:avLst/>
          </a:prstGeom>
          <a:ln w="31750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17"/>
          <p:cNvCxnSpPr/>
          <p:nvPr/>
        </p:nvCxnSpPr>
        <p:spPr>
          <a:xfrm flipV="1">
            <a:off x="7690104" y="2898648"/>
            <a:ext cx="1316736" cy="1947672"/>
          </a:xfrm>
          <a:prstGeom prst="line">
            <a:avLst/>
          </a:prstGeom>
          <a:ln w="31750">
            <a:solidFill>
              <a:srgbClr val="10C7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18"/>
          <p:cNvCxnSpPr/>
          <p:nvPr/>
        </p:nvCxnSpPr>
        <p:spPr>
          <a:xfrm flipV="1">
            <a:off x="6702552" y="2898648"/>
            <a:ext cx="2304288" cy="667512"/>
          </a:xfrm>
          <a:prstGeom prst="line">
            <a:avLst/>
          </a:prstGeom>
          <a:ln w="12700">
            <a:solidFill>
              <a:srgbClr val="2E3B4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19"/>
          <p:cNvSpPr/>
          <p:nvPr/>
        </p:nvSpPr>
        <p:spPr>
          <a:xfrm>
            <a:off x="6624828" y="3488436"/>
            <a:ext cx="155448" cy="155448"/>
          </a:xfrm>
          <a:prstGeom prst="ellipse">
            <a:avLst/>
          </a:prstGeom>
          <a:solidFill>
            <a:srgbClr val="F0A32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9" name="Oval 20"/>
          <p:cNvSpPr/>
          <p:nvPr/>
        </p:nvSpPr>
        <p:spPr>
          <a:xfrm>
            <a:off x="7621524" y="477774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0" name="Oval 21"/>
          <p:cNvSpPr/>
          <p:nvPr/>
        </p:nvSpPr>
        <p:spPr>
          <a:xfrm>
            <a:off x="8942832" y="2834640"/>
            <a:ext cx="128016" cy="128016"/>
          </a:xfrm>
          <a:prstGeom prst="ellipse">
            <a:avLst/>
          </a:prstGeom>
          <a:solidFill>
            <a:srgbClr val="FF5B7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1" name="TextBox 22"/>
          <p:cNvSpPr txBox="1"/>
          <p:nvPr/>
        </p:nvSpPr>
        <p:spPr>
          <a:xfrm>
            <a:off x="6592824" y="31821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F0A32E"/>
                </a:solidFill>
                <a:latin typeface="Noto Sans SC"/>
              </a:rPr>
              <a:t>髋 hip</a:t>
            </a:r>
            <a:endParaRPr/>
          </a:p>
        </p:txBody>
      </p:sp>
      <p:sp>
        <p:nvSpPr>
          <p:cNvPr id="412" name="TextBox 23"/>
          <p:cNvSpPr txBox="1"/>
          <p:nvPr/>
        </p:nvSpPr>
        <p:spPr>
          <a:xfrm>
            <a:off x="7415783" y="502920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FFFFFF"/>
                </a:solidFill>
                <a:latin typeface="Noto Sans SC"/>
              </a:rPr>
              <a:t>膝 knee</a:t>
            </a:r>
            <a:endParaRPr/>
          </a:p>
        </p:txBody>
      </p:sp>
      <p:sp>
        <p:nvSpPr>
          <p:cNvPr id="413" name="TextBox 24"/>
          <p:cNvSpPr txBox="1"/>
          <p:nvPr/>
        </p:nvSpPr>
        <p:spPr>
          <a:xfrm>
            <a:off x="9153144" y="317296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FF5B7F"/>
                </a:solidFill>
                <a:latin typeface="Noto Sans SC"/>
              </a:rPr>
              <a:t>脚尖 tip 落在词框中心</a:t>
            </a:r>
            <a:endParaRPr/>
          </a:p>
        </p:txBody>
      </p:sp>
      <p:sp>
        <p:nvSpPr>
          <p:cNvPr id="414" name="TextBox 25"/>
          <p:cNvSpPr txBox="1"/>
          <p:nvPr/>
        </p:nvSpPr>
        <p:spPr>
          <a:xfrm>
            <a:off x="6281928" y="523036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E9AA6"/>
                </a:solidFill>
                <a:latin typeface="Noto Sans SC"/>
              </a:rPr>
              <a:t>两骨 IK：先有脚尖落点，才有膝盖与髋的角度。
偏移超过腿长 30% 才迈步 —— 所以它不是跟着鼠标摆姿势。</a:t>
            </a:r>
            <a:endParaRPr/>
          </a:p>
        </p:txBody>
      </p:sp>
      <p:sp>
        <p:nvSpPr>
          <p:cNvPr id="415" name="TextBox 26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7626F"/>
                </a:solidFill>
                <a:latin typeface="Noto Sans SC"/>
              </a:rPr>
              <a:t>LEXARA / DIFFERENTIATOR</a:t>
            </a:r>
            <a:endParaRPr/>
          </a:p>
        </p:txBody>
      </p:sp>
      <p:sp>
        <p:nvSpPr>
          <p:cNvPr id="416" name="TextBox 27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626F"/>
                </a:solidFill>
                <a:latin typeface="Noto Sans SC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10C7C5"/>
                </a:solidFill>
                <a:latin typeface="Noto Sans SC"/>
              </a:rPr>
              <a:t>09 / LOCOMOTION</a:t>
            </a:r>
            <a:endParaRPr/>
          </a:p>
        </p:txBody>
      </p:sp>
      <p:sp>
        <p:nvSpPr>
          <p:cNvPr id="16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FFFFFF"/>
                </a:solidFill>
                <a:latin typeface="Noto Sans SC"/>
              </a:rPr>
              <a:t>不是 sprite 播放，是每一帧解算</a:t>
            </a:r>
            <a:endParaRPr/>
          </a:p>
        </p:txBody>
      </p:sp>
      <p:sp>
        <p:nvSpPr>
          <p:cNvPr id="17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B8C4D2"/>
                </a:solidFill>
                <a:latin typeface="Noto Sans SC"/>
              </a:rPr>
              <a:t>阈值迈步 · 速度前瞻 · 抬腿 18%，参数全部对齐原版</a:t>
            </a:r>
            <a:endParaRPr/>
          </a:p>
        </p:txBody>
      </p:sp>
      <p:sp>
        <p:nvSpPr>
          <p:cNvPr id="18" name="Rounded Rectangle 4"/>
          <p:cNvSpPr/>
          <p:nvPr/>
        </p:nvSpPr>
        <p:spPr>
          <a:xfrm>
            <a:off x="719175" y="1737360"/>
            <a:ext cx="1975104" cy="1975104"/>
          </a:xfrm>
          <a:prstGeom prst="roundRect">
            <a:avLst>
              <a:gd name="adj" fmla="val 5555"/>
            </a:avLst>
          </a:prstGeom>
          <a:solidFill>
            <a:srgbClr val="10161E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9" name="Picture 5" descr="01_id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39" y="1792224"/>
            <a:ext cx="1865376" cy="1865376"/>
          </a:xfrm>
          <a:prstGeom prst="rect">
            <a:avLst/>
          </a:prstGeom>
        </p:spPr>
      </p:pic>
      <p:sp>
        <p:nvSpPr>
          <p:cNvPr id="20" name="TextBox 6"/>
          <p:cNvSpPr txBox="1"/>
          <p:nvPr/>
        </p:nvSpPr>
        <p:spPr>
          <a:xfrm>
            <a:off x="719175" y="380390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待机</a:t>
            </a:r>
            <a:endParaRPr/>
          </a:p>
        </p:txBody>
      </p:sp>
      <p:sp>
        <p:nvSpPr>
          <p:cNvPr id="21" name="Rounded Rectangle 7"/>
          <p:cNvSpPr/>
          <p:nvPr/>
        </p:nvSpPr>
        <p:spPr>
          <a:xfrm>
            <a:off x="2913735" y="1737360"/>
            <a:ext cx="1975104" cy="1975104"/>
          </a:xfrm>
          <a:prstGeom prst="roundRect">
            <a:avLst>
              <a:gd name="adj" fmla="val 5555"/>
            </a:avLst>
          </a:prstGeom>
          <a:solidFill>
            <a:srgbClr val="10161E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2" name="Picture 8" descr="02_walk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599" y="1792224"/>
            <a:ext cx="1865376" cy="1865376"/>
          </a:xfrm>
          <a:prstGeom prst="rect">
            <a:avLst/>
          </a:prstGeom>
        </p:spPr>
      </p:pic>
      <p:sp>
        <p:nvSpPr>
          <p:cNvPr id="23" name="TextBox 9"/>
          <p:cNvSpPr txBox="1"/>
          <p:nvPr/>
        </p:nvSpPr>
        <p:spPr>
          <a:xfrm>
            <a:off x="2913735" y="380390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迈步 A</a:t>
            </a:r>
            <a:endParaRPr/>
          </a:p>
        </p:txBody>
      </p:sp>
      <p:sp>
        <p:nvSpPr>
          <p:cNvPr id="24" name="Rounded Rectangle 10"/>
          <p:cNvSpPr/>
          <p:nvPr/>
        </p:nvSpPr>
        <p:spPr>
          <a:xfrm>
            <a:off x="5108295" y="1737360"/>
            <a:ext cx="1975104" cy="1975104"/>
          </a:xfrm>
          <a:prstGeom prst="roundRect">
            <a:avLst>
              <a:gd name="adj" fmla="val 5555"/>
            </a:avLst>
          </a:prstGeom>
          <a:solidFill>
            <a:srgbClr val="10161E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5" name="Picture 11" descr="06_walk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159" y="1792224"/>
            <a:ext cx="1865376" cy="1865376"/>
          </a:xfrm>
          <a:prstGeom prst="rect">
            <a:avLst/>
          </a:prstGeom>
        </p:spPr>
      </p:pic>
      <p:sp>
        <p:nvSpPr>
          <p:cNvPr id="26" name="TextBox 12"/>
          <p:cNvSpPr txBox="1"/>
          <p:nvPr/>
        </p:nvSpPr>
        <p:spPr>
          <a:xfrm>
            <a:off x="5108295" y="380390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迈步 B</a:t>
            </a:r>
            <a:endParaRPr/>
          </a:p>
        </p:txBody>
      </p:sp>
      <p:sp>
        <p:nvSpPr>
          <p:cNvPr id="27" name="Rounded Rectangle 13"/>
          <p:cNvSpPr/>
          <p:nvPr/>
        </p:nvSpPr>
        <p:spPr>
          <a:xfrm>
            <a:off x="7302855" y="1737360"/>
            <a:ext cx="1975104" cy="1975104"/>
          </a:xfrm>
          <a:prstGeom prst="roundRect">
            <a:avLst>
              <a:gd name="adj" fmla="val 5555"/>
            </a:avLst>
          </a:prstGeom>
          <a:solidFill>
            <a:srgbClr val="10161E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8" name="Picture 14" descr="07_jump_r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719" y="1792224"/>
            <a:ext cx="1865376" cy="1865376"/>
          </a:xfrm>
          <a:prstGeom prst="rect">
            <a:avLst/>
          </a:prstGeom>
        </p:spPr>
      </p:pic>
      <p:sp>
        <p:nvSpPr>
          <p:cNvPr id="29" name="TextBox 15"/>
          <p:cNvSpPr txBox="1"/>
          <p:nvPr/>
        </p:nvSpPr>
        <p:spPr>
          <a:xfrm>
            <a:off x="7302855" y="380390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起跳</a:t>
            </a:r>
            <a:endParaRPr/>
          </a:p>
        </p:txBody>
      </p:sp>
      <p:sp>
        <p:nvSpPr>
          <p:cNvPr id="30" name="Rounded Rectangle 16"/>
          <p:cNvSpPr/>
          <p:nvPr/>
        </p:nvSpPr>
        <p:spPr>
          <a:xfrm>
            <a:off x="9497415" y="1737360"/>
            <a:ext cx="1975104" cy="1975104"/>
          </a:xfrm>
          <a:prstGeom prst="roundRect">
            <a:avLst>
              <a:gd name="adj" fmla="val 5555"/>
            </a:avLst>
          </a:prstGeom>
          <a:solidFill>
            <a:srgbClr val="10161E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1" name="Picture 17" descr="08_jump_pea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279" y="1792224"/>
            <a:ext cx="1865376" cy="1865376"/>
          </a:xfrm>
          <a:prstGeom prst="rect">
            <a:avLst/>
          </a:prstGeom>
        </p:spPr>
      </p:pic>
      <p:sp>
        <p:nvSpPr>
          <p:cNvPr id="32" name="TextBox 18"/>
          <p:cNvSpPr txBox="1"/>
          <p:nvPr/>
        </p:nvSpPr>
        <p:spPr>
          <a:xfrm>
            <a:off x="9497415" y="380390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B8C4D2"/>
                </a:solidFill>
                <a:latin typeface="Noto Sans SC"/>
              </a:rPr>
              <a:t>空中</a:t>
            </a:r>
            <a:endParaRPr/>
          </a:p>
        </p:txBody>
      </p:sp>
      <p:sp>
        <p:nvSpPr>
          <p:cNvPr id="33" name="TextBox 19"/>
          <p:cNvSpPr txBox="1"/>
          <p:nvPr/>
        </p:nvSpPr>
        <p:spPr>
          <a:xfrm>
            <a:off x="603504" y="4443984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7A87"/>
                </a:solidFill>
                <a:latin typeface="Noto Sans SC"/>
              </a:rPr>
              <a:t>↑ 以上五帧均由 Spider 实际解算后离屏渲染，不是美术素材。</a:t>
            </a:r>
            <a:endParaRPr/>
          </a:p>
        </p:txBody>
      </p:sp>
      <p:sp>
        <p:nvSpPr>
          <p:cNvPr id="34" name="TextBox 20"/>
          <p:cNvSpPr txBox="1"/>
          <p:nvPr/>
        </p:nvSpPr>
        <p:spPr>
          <a:xfrm>
            <a:off x="603504" y="502920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10C7C5"/>
                </a:solidFill>
                <a:latin typeface="Noto Sans SC"/>
              </a:rPr>
              <a:t>阈值迈步</a:t>
            </a:r>
            <a:endParaRPr/>
          </a:p>
        </p:txBody>
      </p:sp>
      <p:sp>
        <p:nvSpPr>
          <p:cNvPr id="35" name="TextBox 21"/>
          <p:cNvSpPr txBox="1"/>
          <p:nvPr/>
        </p:nvSpPr>
        <p:spPr>
          <a:xfrm>
            <a:off x="603504" y="5340096"/>
            <a:ext cx="34564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脚偏离静止位超过腿长 30% 才迈；同一时刻最多 4~6 条腿在动。</a:t>
            </a:r>
            <a:endParaRPr/>
          </a:p>
        </p:txBody>
      </p:sp>
      <p:sp>
        <p:nvSpPr>
          <p:cNvPr id="36" name="TextBox 22"/>
          <p:cNvSpPr txBox="1"/>
          <p:nvPr/>
        </p:nvSpPr>
        <p:spPr>
          <a:xfrm>
            <a:off x="4315968" y="502920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10C7C5"/>
                </a:solidFill>
                <a:latin typeface="Noto Sans SC"/>
              </a:rPr>
              <a:t>身体位移喂给引擎</a:t>
            </a:r>
            <a:endParaRPr/>
          </a:p>
        </p:txBody>
      </p:sp>
      <p:sp>
        <p:nvSpPr>
          <p:cNvPr id="37" name="TextBox 23"/>
          <p:cNvSpPr txBox="1"/>
          <p:nvPr/>
        </p:nvSpPr>
        <p:spPr>
          <a:xfrm>
            <a:off x="4315968" y="5340096"/>
            <a:ext cx="34564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脚钉在原地，身体一动静止位就相对偏移 —— 步态是这么被驱动的。</a:t>
            </a:r>
            <a:endParaRPr/>
          </a:p>
        </p:txBody>
      </p:sp>
      <p:sp>
        <p:nvSpPr>
          <p:cNvPr id="38" name="TextBox 24"/>
          <p:cNvSpPr txBox="1"/>
          <p:nvPr/>
        </p:nvSpPr>
        <p:spPr>
          <a:xfrm>
            <a:off x="8028431" y="502920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10C7C5"/>
                </a:solidFill>
                <a:latin typeface="Noto Sans SC"/>
              </a:rPr>
              <a:t>遮罩跟随实际腿位</a:t>
            </a:r>
            <a:endParaRPr/>
          </a:p>
        </p:txBody>
      </p:sp>
      <p:sp>
        <p:nvSpPr>
          <p:cNvPr id="39" name="TextBox 25"/>
          <p:cNvSpPr txBox="1"/>
          <p:nvPr/>
        </p:nvSpPr>
        <p:spPr>
          <a:xfrm>
            <a:off x="8028431" y="5340096"/>
            <a:ext cx="34564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按当前髋 / 膝 / 脚尖以 12Hz 重建，腿不会被裁成半截。</a:t>
            </a:r>
            <a:endParaRPr/>
          </a:p>
        </p:txBody>
      </p:sp>
      <p:sp>
        <p:nvSpPr>
          <p:cNvPr id="40" name="TextBox 26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7626F"/>
                </a:solidFill>
                <a:latin typeface="Noto Sans SC"/>
              </a:rPr>
              <a:t>LEXARA / LOCOMOTION</a:t>
            </a:r>
            <a:endParaRPr/>
          </a:p>
        </p:txBody>
      </p:sp>
      <p:sp>
        <p:nvSpPr>
          <p:cNvPr id="41" name="TextBox 27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626F"/>
                </a:solidFill>
                <a:latin typeface="Noto Sans SC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10 / RETENTION</a:t>
            </a:r>
            <a:endParaRPr/>
          </a:p>
        </p:txBody>
      </p:sp>
      <p:sp>
        <p:nvSpPr>
          <p:cNvPr id="44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一次识词，变成一条复习排期</a:t>
            </a:r>
            <a:endParaRPr/>
          </a:p>
        </p:txBody>
      </p:sp>
      <p:sp>
        <p:nvSpPr>
          <p:cNvPr id="45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答对进档、答错退回次日；到期优先，不需要你自己排</a:t>
            </a:r>
            <a:endParaRPr/>
          </a:p>
        </p:txBody>
      </p:sp>
      <p:sp>
        <p:nvSpPr>
          <p:cNvPr id="46" name="Rounded Rectangle 4"/>
          <p:cNvSpPr/>
          <p:nvPr/>
        </p:nvSpPr>
        <p:spPr>
          <a:xfrm>
            <a:off x="603504" y="1792224"/>
            <a:ext cx="6492240" cy="2962656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5"/>
          <p:cNvSpPr txBox="1"/>
          <p:nvPr/>
        </p:nvSpPr>
        <p:spPr>
          <a:xfrm>
            <a:off x="1024128" y="2066543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0E8F8D"/>
                </a:solidFill>
                <a:latin typeface="Noto Sans SC"/>
              </a:rPr>
              <a:t>间隔重复</a:t>
            </a:r>
            <a:endParaRPr/>
          </a:p>
        </p:txBody>
      </p:sp>
      <p:sp>
        <p:nvSpPr>
          <p:cNvPr id="48" name="Rounded Rectangle 6"/>
          <p:cNvSpPr/>
          <p:nvPr/>
        </p:nvSpPr>
        <p:spPr>
          <a:xfrm>
            <a:off x="1024128" y="2523744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F1EDE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0151C"/>
                </a:solidFill>
                <a:latin typeface="Noto Sans SC"/>
              </a:rPr>
              <a:t>1 天</a:t>
            </a:r>
            <a:endParaRPr/>
          </a:p>
        </p:txBody>
      </p:sp>
      <p:cxnSp>
        <p:nvCxnSpPr>
          <p:cNvPr id="49" name="Connector 7"/>
          <p:cNvCxnSpPr/>
          <p:nvPr/>
        </p:nvCxnSpPr>
        <p:spPr>
          <a:xfrm>
            <a:off x="2212848" y="2724912"/>
            <a:ext cx="256032" cy="0"/>
          </a:xfrm>
          <a:prstGeom prst="line">
            <a:avLst/>
          </a:prstGeom>
          <a:ln w="15875">
            <a:solidFill>
              <a:srgbClr val="C9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8"/>
          <p:cNvSpPr/>
          <p:nvPr/>
        </p:nvSpPr>
        <p:spPr>
          <a:xfrm>
            <a:off x="2299716" y="2683764"/>
            <a:ext cx="82296" cy="82296"/>
          </a:xfrm>
          <a:prstGeom prst="ellipse">
            <a:avLst/>
          </a:prstGeom>
          <a:solidFill>
            <a:srgbClr val="10C7C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9"/>
          <p:cNvSpPr/>
          <p:nvPr/>
        </p:nvSpPr>
        <p:spPr>
          <a:xfrm>
            <a:off x="2505456" y="2523744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F1EDE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0151C"/>
                </a:solidFill>
                <a:latin typeface="Noto Sans SC"/>
              </a:rPr>
              <a:t>3 天</a:t>
            </a:r>
            <a:endParaRPr/>
          </a:p>
        </p:txBody>
      </p:sp>
      <p:cxnSp>
        <p:nvCxnSpPr>
          <p:cNvPr id="52" name="Connector 10"/>
          <p:cNvCxnSpPr/>
          <p:nvPr/>
        </p:nvCxnSpPr>
        <p:spPr>
          <a:xfrm>
            <a:off x="3694176" y="2724912"/>
            <a:ext cx="256032" cy="0"/>
          </a:xfrm>
          <a:prstGeom prst="line">
            <a:avLst/>
          </a:prstGeom>
          <a:ln w="15875">
            <a:solidFill>
              <a:srgbClr val="C9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11"/>
          <p:cNvSpPr/>
          <p:nvPr/>
        </p:nvSpPr>
        <p:spPr>
          <a:xfrm>
            <a:off x="3781044" y="2683764"/>
            <a:ext cx="82296" cy="82296"/>
          </a:xfrm>
          <a:prstGeom prst="ellipse">
            <a:avLst/>
          </a:prstGeom>
          <a:solidFill>
            <a:srgbClr val="10C7C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12"/>
          <p:cNvSpPr/>
          <p:nvPr/>
        </p:nvSpPr>
        <p:spPr>
          <a:xfrm>
            <a:off x="3986784" y="2523744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F1EDE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0151C"/>
                </a:solidFill>
                <a:latin typeface="Noto Sans SC"/>
              </a:rPr>
              <a:t>7 天</a:t>
            </a:r>
            <a:endParaRPr/>
          </a:p>
        </p:txBody>
      </p:sp>
      <p:cxnSp>
        <p:nvCxnSpPr>
          <p:cNvPr id="55" name="Connector 13"/>
          <p:cNvCxnSpPr/>
          <p:nvPr/>
        </p:nvCxnSpPr>
        <p:spPr>
          <a:xfrm>
            <a:off x="5175504" y="2724912"/>
            <a:ext cx="256032" cy="0"/>
          </a:xfrm>
          <a:prstGeom prst="line">
            <a:avLst/>
          </a:prstGeom>
          <a:ln w="15875">
            <a:solidFill>
              <a:srgbClr val="C9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14"/>
          <p:cNvSpPr/>
          <p:nvPr/>
        </p:nvSpPr>
        <p:spPr>
          <a:xfrm>
            <a:off x="5262372" y="2683764"/>
            <a:ext cx="82296" cy="82296"/>
          </a:xfrm>
          <a:prstGeom prst="ellipse">
            <a:avLst/>
          </a:prstGeom>
          <a:solidFill>
            <a:srgbClr val="10C7C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ounded Rectangle 15"/>
          <p:cNvSpPr/>
          <p:nvPr/>
        </p:nvSpPr>
        <p:spPr>
          <a:xfrm>
            <a:off x="5468112" y="2523744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F1EDE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0151C"/>
                </a:solidFill>
                <a:latin typeface="Noto Sans SC"/>
              </a:rPr>
              <a:t>14 天</a:t>
            </a:r>
            <a:endParaRPr/>
          </a:p>
        </p:txBody>
      </p:sp>
      <p:sp>
        <p:nvSpPr>
          <p:cNvPr id="58" name="TextBox 16"/>
          <p:cNvSpPr txBox="1"/>
          <p:nvPr/>
        </p:nvSpPr>
        <p:spPr>
          <a:xfrm>
            <a:off x="1024128" y="318211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答对进档，答错退回次日</a:t>
            </a:r>
            <a:endParaRPr/>
          </a:p>
        </p:txBody>
      </p:sp>
      <p:sp>
        <p:nvSpPr>
          <p:cNvPr id="59" name="TextBox 17"/>
          <p:cNvSpPr txBox="1"/>
          <p:nvPr/>
        </p:nvSpPr>
        <p:spPr>
          <a:xfrm>
            <a:off x="1024128" y="360273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FF5B7F"/>
                </a:solidFill>
                <a:latin typeface="Noto Sans SC"/>
              </a:rPr>
              <a:t>到期优先</a:t>
            </a:r>
            <a:endParaRPr/>
          </a:p>
        </p:txBody>
      </p:sp>
      <p:sp>
        <p:nvSpPr>
          <p:cNvPr id="60" name="TextBox 18"/>
          <p:cNvSpPr txBox="1"/>
          <p:nvPr/>
        </p:nvSpPr>
        <p:spPr>
          <a:xfrm>
            <a:off x="1024128" y="395020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复习队列只排真正到期的词，
不按字母表从头刷。</a:t>
            </a:r>
            <a:endParaRPr/>
          </a:p>
        </p:txBody>
      </p:sp>
      <p:sp>
        <p:nvSpPr>
          <p:cNvPr id="61" name="Rounded Rectangle 19"/>
          <p:cNvSpPr/>
          <p:nvPr/>
        </p:nvSpPr>
        <p:spPr>
          <a:xfrm>
            <a:off x="7424927" y="1792224"/>
            <a:ext cx="4187952" cy="2962656"/>
          </a:xfrm>
          <a:prstGeom prst="roundRect">
            <a:avLst>
              <a:gd name="adj" fmla="val 5555"/>
            </a:avLst>
          </a:prstGeom>
          <a:solidFill>
            <a:srgbClr val="0B111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20"/>
          <p:cNvSpPr txBox="1"/>
          <p:nvPr/>
        </p:nvSpPr>
        <p:spPr>
          <a:xfrm>
            <a:off x="7808975" y="2066543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10C7C5"/>
                </a:solidFill>
                <a:latin typeface="Noto Sans SC"/>
              </a:rPr>
              <a:t>词库里现在有</a:t>
            </a:r>
            <a:endParaRPr/>
          </a:p>
        </p:txBody>
      </p:sp>
      <p:sp>
        <p:nvSpPr>
          <p:cNvPr id="63" name="TextBox 21"/>
          <p:cNvSpPr txBox="1"/>
          <p:nvPr/>
        </p:nvSpPr>
        <p:spPr>
          <a:xfrm>
            <a:off x="7808975" y="2359152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Noto Sans SC"/>
              </a:rPr>
              <a:t>32 个词</a:t>
            </a:r>
            <a:endParaRPr/>
          </a:p>
        </p:txBody>
      </p:sp>
      <p:cxnSp>
        <p:nvCxnSpPr>
          <p:cNvPr id="64" name="Connector 22"/>
          <p:cNvCxnSpPr/>
          <p:nvPr/>
        </p:nvCxnSpPr>
        <p:spPr>
          <a:xfrm>
            <a:off x="7808975" y="2926080"/>
            <a:ext cx="3419857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23"/>
          <p:cNvSpPr txBox="1"/>
          <p:nvPr/>
        </p:nvSpPr>
        <p:spPr>
          <a:xfrm>
            <a:off x="7808975" y="307238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今日待复习</a:t>
            </a:r>
            <a:endParaRPr/>
          </a:p>
        </p:txBody>
      </p:sp>
      <p:sp>
        <p:nvSpPr>
          <p:cNvPr id="66" name="TextBox 24"/>
          <p:cNvSpPr txBox="1"/>
          <p:nvPr/>
        </p:nvSpPr>
        <p:spPr>
          <a:xfrm>
            <a:off x="10058400" y="30723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SC"/>
              </a:rPr>
              <a:t>0</a:t>
            </a:r>
            <a:endParaRPr/>
          </a:p>
        </p:txBody>
      </p:sp>
      <p:sp>
        <p:nvSpPr>
          <p:cNvPr id="67" name="TextBox 25"/>
          <p:cNvSpPr txBox="1"/>
          <p:nvPr/>
        </p:nvSpPr>
        <p:spPr>
          <a:xfrm>
            <a:off x="7808975" y="352958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已进入复习</a:t>
            </a:r>
            <a:endParaRPr/>
          </a:p>
        </p:txBody>
      </p:sp>
      <p:sp>
        <p:nvSpPr>
          <p:cNvPr id="68" name="TextBox 26"/>
          <p:cNvSpPr txBox="1"/>
          <p:nvPr/>
        </p:nvSpPr>
        <p:spPr>
          <a:xfrm>
            <a:off x="10058400" y="352958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SC"/>
              </a:rPr>
              <a:t>0</a:t>
            </a:r>
            <a:endParaRPr/>
          </a:p>
        </p:txBody>
      </p:sp>
      <p:sp>
        <p:nvSpPr>
          <p:cNvPr id="69" name="TextBox 27"/>
          <p:cNvSpPr txBox="1"/>
          <p:nvPr/>
        </p:nvSpPr>
        <p:spPr>
          <a:xfrm>
            <a:off x="7808975" y="3986783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累计打开</a:t>
            </a:r>
            <a:endParaRPr/>
          </a:p>
        </p:txBody>
      </p:sp>
      <p:sp>
        <p:nvSpPr>
          <p:cNvPr id="70" name="TextBox 28"/>
          <p:cNvSpPr txBox="1"/>
          <p:nvPr/>
        </p:nvSpPr>
        <p:spPr>
          <a:xfrm>
            <a:off x="10058400" y="398678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SC"/>
              </a:rPr>
              <a:t>3 天</a:t>
            </a:r>
            <a:endParaRPr/>
          </a:p>
        </p:txBody>
      </p:sp>
      <p:sp>
        <p:nvSpPr>
          <p:cNvPr id="71" name="TextBox 29"/>
          <p:cNvSpPr txBox="1"/>
          <p:nvPr/>
        </p:nvSpPr>
        <p:spPr>
          <a:xfrm>
            <a:off x="7808975" y="448056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E7A87"/>
                </a:solidFill>
                <a:latin typeface="Noto Sans SC"/>
              </a:rPr>
              <a:t>↑ 数字来自当前运行的词库，不是示意</a:t>
            </a:r>
            <a:endParaRPr/>
          </a:p>
        </p:txBody>
      </p:sp>
      <p:cxnSp>
        <p:nvCxnSpPr>
          <p:cNvPr id="72" name="Connector 30"/>
          <p:cNvCxnSpPr/>
          <p:nvPr/>
        </p:nvCxnSpPr>
        <p:spPr>
          <a:xfrm>
            <a:off x="603504" y="5138928"/>
            <a:ext cx="10984687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31"/>
          <p:cNvSpPr txBox="1"/>
          <p:nvPr/>
        </p:nvSpPr>
        <p:spPr>
          <a:xfrm>
            <a:off x="603504" y="5321808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5B6571"/>
                </a:solidFill>
                <a:latin typeface="Noto Sans SC"/>
              </a:rPr>
              <a:t>复习流程</a:t>
            </a:r>
            <a:endParaRPr/>
          </a:p>
        </p:txBody>
      </p:sp>
      <p:sp>
        <p:nvSpPr>
          <p:cNvPr id="74" name="TextBox 32"/>
          <p:cNvSpPr txBox="1"/>
          <p:nvPr/>
        </p:nvSpPr>
        <p:spPr>
          <a:xfrm>
            <a:off x="603504" y="55961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0151C"/>
                </a:solidFill>
                <a:latin typeface="Noto Sans SC"/>
              </a:rPr>
              <a:t>看词回忆 → 揭示答案 → 自评（认识 / 不认识）→ 下一条；错词单独记，重练只刷错词。</a:t>
            </a:r>
            <a:endParaRPr/>
          </a:p>
        </p:txBody>
      </p:sp>
      <p:sp>
        <p:nvSpPr>
          <p:cNvPr id="75" name="TextBox 33"/>
          <p:cNvSpPr txBox="1"/>
          <p:nvPr/>
        </p:nvSpPr>
        <p:spPr>
          <a:xfrm>
            <a:off x="603504" y="599846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排期、事件、成就在同一个 wordbook.json 里（schemaVersion 3）—— 原子写落盘，断电不会写坏。</a:t>
            </a:r>
            <a:endParaRPr/>
          </a:p>
        </p:txBody>
      </p:sp>
      <p:sp>
        <p:nvSpPr>
          <p:cNvPr id="76" name="TextBox 34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77" name="TextBox 35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11 / PROGRESS</a:t>
            </a:r>
            <a:endParaRPr/>
          </a:p>
        </p:txBody>
      </p:sp>
      <p:sp>
        <p:nvSpPr>
          <p:cNvPr id="80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让「我真的学过什么」看得见</a:t>
            </a:r>
            <a:endParaRPr/>
          </a:p>
        </p:txBody>
      </p:sp>
      <p:sp>
        <p:nvSpPr>
          <p:cNvPr id="81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两种天数分开统计，成就有里程碑，也不假装全勤</a:t>
            </a:r>
            <a:endParaRPr/>
          </a:p>
        </p:txBody>
      </p:sp>
      <p:pic>
        <p:nvPicPr>
          <p:cNvPr id="82" name="Picture 4" descr="heatmap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024144"/>
            <a:ext cx="6903720" cy="1511262"/>
          </a:xfrm>
          <a:prstGeom prst="rect">
            <a:avLst/>
          </a:prstGeom>
        </p:spPr>
      </p:pic>
      <p:sp>
        <p:nvSpPr>
          <p:cNvPr id="83" name="Rounded Rectangle 5"/>
          <p:cNvSpPr/>
          <p:nvPr/>
        </p:nvSpPr>
        <p:spPr>
          <a:xfrm>
            <a:off x="594360" y="2015000"/>
            <a:ext cx="6922007" cy="1529550"/>
          </a:xfrm>
          <a:prstGeom prst="roundRect">
            <a:avLst>
              <a:gd name="adj" fmla="val 8369"/>
            </a:avLst>
          </a:prstGeom>
          <a:noFill/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6"/>
          <p:cNvSpPr txBox="1"/>
          <p:nvPr/>
        </p:nvSpPr>
        <p:spPr>
          <a:xfrm>
            <a:off x="603504" y="3681711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571"/>
                </a:solidFill>
                <a:latin typeface="Noto Sans SC"/>
              </a:rPr>
              <a:t>↑ 启动台里的 53×7 点阵，可切日 / 周 / 月 / 年四档视图</a:t>
            </a:r>
            <a:endParaRPr/>
          </a:p>
        </p:txBody>
      </p:sp>
      <p:sp>
        <p:nvSpPr>
          <p:cNvPr id="85" name="TextBox 7"/>
          <p:cNvSpPr txBox="1"/>
          <p:nvPr/>
        </p:nvSpPr>
        <p:spPr>
          <a:xfrm>
            <a:off x="603504" y="391363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571"/>
                </a:solidFill>
                <a:latin typeface="Noto Sans SC"/>
              </a:rPr>
              <a:t>打开过</a:t>
            </a:r>
            <a:endParaRPr/>
          </a:p>
        </p:txBody>
      </p:sp>
      <p:sp>
        <p:nvSpPr>
          <p:cNvPr id="86" name="TextBox 8"/>
          <p:cNvSpPr txBox="1"/>
          <p:nvPr/>
        </p:nvSpPr>
        <p:spPr>
          <a:xfrm>
            <a:off x="603504" y="418795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0151C"/>
                </a:solidFill>
                <a:latin typeface="Noto Sans SC"/>
              </a:rPr>
              <a:t>3 天</a:t>
            </a:r>
            <a:endParaRPr/>
          </a:p>
        </p:txBody>
      </p:sp>
      <p:sp>
        <p:nvSpPr>
          <p:cNvPr id="87" name="TextBox 9"/>
          <p:cNvSpPr txBox="1"/>
          <p:nvPr/>
        </p:nvSpPr>
        <p:spPr>
          <a:xfrm>
            <a:off x="2432304" y="391363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0E8F8D"/>
                </a:solidFill>
                <a:latin typeface="Noto Sans SC"/>
              </a:rPr>
              <a:t>真的学过</a:t>
            </a:r>
            <a:endParaRPr/>
          </a:p>
        </p:txBody>
      </p:sp>
      <p:sp>
        <p:nvSpPr>
          <p:cNvPr id="88" name="TextBox 10"/>
          <p:cNvSpPr txBox="1"/>
          <p:nvPr/>
        </p:nvSpPr>
        <p:spPr>
          <a:xfrm>
            <a:off x="2432304" y="41879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8F8D"/>
                </a:solidFill>
                <a:latin typeface="Noto Sans SC"/>
              </a:rPr>
              <a:t>0 天</a:t>
            </a:r>
            <a:endParaRPr/>
          </a:p>
        </p:txBody>
      </p:sp>
      <p:sp>
        <p:nvSpPr>
          <p:cNvPr id="89" name="TextBox 11"/>
          <p:cNvSpPr txBox="1"/>
          <p:nvPr/>
        </p:nvSpPr>
        <p:spPr>
          <a:xfrm>
            <a:off x="3803904" y="426110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两种天数分开统计，
不把「打开过」算成「学过」。</a:t>
            </a:r>
            <a:endParaRPr/>
          </a:p>
        </p:txBody>
      </p:sp>
      <p:sp>
        <p:nvSpPr>
          <p:cNvPr id="90" name="TextBox 12"/>
          <p:cNvSpPr txBox="1"/>
          <p:nvPr/>
        </p:nvSpPr>
        <p:spPr>
          <a:xfrm>
            <a:off x="603504" y="50474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60">
                <a:solidFill>
                  <a:srgbClr val="5B6571"/>
                </a:solidFill>
                <a:latin typeface="Noto Sans SC"/>
              </a:rPr>
              <a:t>三色格</a:t>
            </a:r>
            <a:endParaRPr/>
          </a:p>
        </p:txBody>
      </p:sp>
      <p:sp>
        <p:nvSpPr>
          <p:cNvPr id="91" name="Oval 13"/>
          <p:cNvSpPr/>
          <p:nvPr/>
        </p:nvSpPr>
        <p:spPr>
          <a:xfrm>
            <a:off x="603504" y="5257800"/>
            <a:ext cx="201168" cy="201168"/>
          </a:xfrm>
          <a:prstGeom prst="ellipse">
            <a:avLst/>
          </a:prstGeom>
          <a:solidFill>
            <a:srgbClr val="E6E2D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14"/>
          <p:cNvSpPr txBox="1"/>
          <p:nvPr/>
        </p:nvSpPr>
        <p:spPr>
          <a:xfrm>
            <a:off x="914400" y="528523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没有学习</a:t>
            </a:r>
            <a:endParaRPr/>
          </a:p>
        </p:txBody>
      </p:sp>
      <p:sp>
        <p:nvSpPr>
          <p:cNvPr id="93" name="Oval 15"/>
          <p:cNvSpPr/>
          <p:nvPr/>
        </p:nvSpPr>
        <p:spPr>
          <a:xfrm>
            <a:off x="2889504" y="5257800"/>
            <a:ext cx="201168" cy="201168"/>
          </a:xfrm>
          <a:prstGeom prst="ellipse">
            <a:avLst/>
          </a:prstGeom>
          <a:solidFill>
            <a:srgbClr val="B8E0D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TextBox 16"/>
          <p:cNvSpPr txBox="1"/>
          <p:nvPr/>
        </p:nvSpPr>
        <p:spPr>
          <a:xfrm>
            <a:off x="3200400" y="528523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扫描过词</a:t>
            </a:r>
            <a:endParaRPr/>
          </a:p>
        </p:txBody>
      </p:sp>
      <p:sp>
        <p:nvSpPr>
          <p:cNvPr id="95" name="Oval 17"/>
          <p:cNvSpPr/>
          <p:nvPr/>
        </p:nvSpPr>
        <p:spPr>
          <a:xfrm>
            <a:off x="5175504" y="5257800"/>
            <a:ext cx="201168" cy="201168"/>
          </a:xfrm>
          <a:prstGeom prst="ellipse">
            <a:avLst/>
          </a:prstGeom>
          <a:solidFill>
            <a:srgbClr val="2F7A5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TextBox 18"/>
          <p:cNvSpPr txBox="1"/>
          <p:nvPr/>
        </p:nvSpPr>
        <p:spPr>
          <a:xfrm>
            <a:off x="5486400" y="528523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复习或主动 AI</a:t>
            </a:r>
            <a:endParaRPr/>
          </a:p>
        </p:txBody>
      </p:sp>
      <p:sp>
        <p:nvSpPr>
          <p:cNvPr id="97" name="TextBox 19"/>
          <p:cNvSpPr txBox="1"/>
          <p:nvPr/>
        </p:nvSpPr>
        <p:spPr>
          <a:xfrm>
            <a:off x="603504" y="570585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扫描出词、收藏、提交自评都会写一条事件（各留最近 400 条）；打开日期按自然日去重，保留 1200 条。</a:t>
            </a:r>
            <a:endParaRPr/>
          </a:p>
        </p:txBody>
      </p:sp>
      <p:sp>
        <p:nvSpPr>
          <p:cNvPr id="98" name="TextBox 20"/>
          <p:cNvSpPr txBox="1"/>
          <p:nvPr/>
        </p:nvSpPr>
        <p:spPr>
          <a:xfrm>
            <a:off x="7772400" y="177393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0E8F8D"/>
                </a:solidFill>
                <a:latin typeface="Noto Sans SC"/>
              </a:rPr>
              <a:t>成就</a:t>
            </a:r>
            <a:endParaRPr/>
          </a:p>
        </p:txBody>
      </p:sp>
      <p:sp>
        <p:nvSpPr>
          <p:cNvPr id="99" name="Rounded Rectangle 21"/>
          <p:cNvSpPr/>
          <p:nvPr/>
        </p:nvSpPr>
        <p:spPr>
          <a:xfrm>
            <a:off x="7772400" y="2139696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0151C"/>
                </a:solidFill>
                <a:latin typeface="Noto Sans SC"/>
              </a:rPr>
              <a:t>7 天</a:t>
            </a:r>
            <a:endParaRPr/>
          </a:p>
        </p:txBody>
      </p:sp>
      <p:sp>
        <p:nvSpPr>
          <p:cNvPr id="100" name="TextBox 22"/>
          <p:cNvSpPr txBox="1"/>
          <p:nvPr/>
        </p:nvSpPr>
        <p:spPr>
          <a:xfrm>
            <a:off x="9052560" y="21762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第一个里程碑</a:t>
            </a:r>
            <a:endParaRPr/>
          </a:p>
        </p:txBody>
      </p:sp>
      <p:sp>
        <p:nvSpPr>
          <p:cNvPr id="101" name="Rounded Rectangle 23"/>
          <p:cNvSpPr/>
          <p:nvPr/>
        </p:nvSpPr>
        <p:spPr>
          <a:xfrm>
            <a:off x="7772400" y="2889503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0151C"/>
                </a:solidFill>
                <a:latin typeface="Noto Sans SC"/>
              </a:rPr>
              <a:t>30 天</a:t>
            </a:r>
            <a:endParaRPr/>
          </a:p>
        </p:txBody>
      </p:sp>
      <p:sp>
        <p:nvSpPr>
          <p:cNvPr id="102" name="TextBox 24"/>
          <p:cNvSpPr txBox="1"/>
          <p:nvPr/>
        </p:nvSpPr>
        <p:spPr>
          <a:xfrm>
            <a:off x="9052560" y="2926079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习惯开始成形</a:t>
            </a:r>
            <a:endParaRPr/>
          </a:p>
        </p:txBody>
      </p:sp>
      <p:sp>
        <p:nvSpPr>
          <p:cNvPr id="103" name="Rounded Rectangle 25"/>
          <p:cNvSpPr/>
          <p:nvPr/>
        </p:nvSpPr>
        <p:spPr>
          <a:xfrm>
            <a:off x="7772400" y="3639311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0151C"/>
                </a:solidFill>
                <a:latin typeface="Noto Sans SC"/>
              </a:rPr>
              <a:t>100 天</a:t>
            </a:r>
            <a:endParaRPr/>
          </a:p>
        </p:txBody>
      </p:sp>
      <p:sp>
        <p:nvSpPr>
          <p:cNvPr id="104" name="TextBox 26"/>
          <p:cNvSpPr txBox="1"/>
          <p:nvPr/>
        </p:nvSpPr>
        <p:spPr>
          <a:xfrm>
            <a:off x="9052560" y="3675887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长期坚持</a:t>
            </a:r>
            <a:endParaRPr/>
          </a:p>
        </p:txBody>
      </p:sp>
      <p:sp>
        <p:nvSpPr>
          <p:cNvPr id="105" name="Rounded Rectangle 27"/>
          <p:cNvSpPr/>
          <p:nvPr/>
        </p:nvSpPr>
        <p:spPr>
          <a:xfrm>
            <a:off x="7772400" y="438912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00" b="1">
                <a:solidFill>
                  <a:srgbClr val="10151C"/>
                </a:solidFill>
                <a:latin typeface="Noto Sans SC"/>
              </a:rPr>
              <a:t>日历全绿</a:t>
            </a:r>
            <a:endParaRPr/>
          </a:p>
        </p:txBody>
      </p:sp>
      <p:sp>
        <p:nvSpPr>
          <p:cNvPr id="106" name="TextBox 28"/>
          <p:cNvSpPr txBox="1"/>
          <p:nvPr/>
        </p:nvSpPr>
        <p:spPr>
          <a:xfrm>
            <a:off x="9052560" y="4425696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1"/>
                </a:solidFill>
                <a:latin typeface="Noto Sans SC"/>
              </a:rPr>
              <a:t>一整屏都是深绿</a:t>
            </a:r>
            <a:endParaRPr/>
          </a:p>
        </p:txBody>
      </p:sp>
      <p:cxnSp>
        <p:nvCxnSpPr>
          <p:cNvPr id="107" name="Connector 29"/>
          <p:cNvCxnSpPr/>
          <p:nvPr/>
        </p:nvCxnSpPr>
        <p:spPr>
          <a:xfrm>
            <a:off x="7772400" y="4828032"/>
            <a:ext cx="381579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30"/>
          <p:cNvSpPr txBox="1"/>
          <p:nvPr/>
        </p:nvSpPr>
        <p:spPr>
          <a:xfrm>
            <a:off x="7772400" y="4974336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一次性、持久化，崩溃或关机后能补弹；
弹窗可「保存图片」，导出只含日历的 PNG。</a:t>
            </a:r>
            <a:endParaRPr/>
          </a:p>
        </p:txBody>
      </p:sp>
      <p:sp>
        <p:nvSpPr>
          <p:cNvPr id="109" name="TextBox 31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110" name="TextBox 32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12 / TRUST</a:t>
            </a:r>
            <a:endParaRPr/>
          </a:p>
        </p:txBody>
      </p:sp>
      <p:sp>
        <p:nvSpPr>
          <p:cNvPr id="113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离线识别，把隐私做成默认值</a:t>
            </a:r>
            <a:endParaRPr/>
          </a:p>
        </p:txBody>
      </p:sp>
      <p:sp>
        <p:nvSpPr>
          <p:cNvPr id="114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截图不出机器，词典随包运行，AI 只是可选的一层</a:t>
            </a:r>
            <a:endParaRPr/>
          </a:p>
        </p:txBody>
      </p:sp>
      <p:sp>
        <p:nvSpPr>
          <p:cNvPr id="115" name="Rounded Rectangle 4"/>
          <p:cNvSpPr/>
          <p:nvPr/>
        </p:nvSpPr>
        <p:spPr>
          <a:xfrm>
            <a:off x="603504" y="1792224"/>
            <a:ext cx="4846320" cy="3328416"/>
          </a:xfrm>
          <a:prstGeom prst="roundRect">
            <a:avLst>
              <a:gd name="adj" fmla="val 5494"/>
            </a:avLst>
          </a:prstGeom>
          <a:solidFill>
            <a:srgbClr val="0B111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5"/>
          <p:cNvSpPr txBox="1"/>
          <p:nvPr/>
        </p:nvSpPr>
        <p:spPr>
          <a:xfrm>
            <a:off x="1024128" y="210312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C7C5"/>
                </a:solidFill>
                <a:latin typeface="Noto Sans SC"/>
              </a:rPr>
              <a:t>桌面截图</a:t>
            </a:r>
            <a:endParaRPr/>
          </a:p>
        </p:txBody>
      </p:sp>
      <p:sp>
        <p:nvSpPr>
          <p:cNvPr id="117" name="TextBox 6"/>
          <p:cNvSpPr txBox="1"/>
          <p:nvPr/>
        </p:nvSpPr>
        <p:spPr>
          <a:xfrm>
            <a:off x="3346704" y="2103120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E7A87"/>
                </a:solidFill>
                <a:latin typeface="Noto Sans SC"/>
              </a:rPr>
              <a:t>→</a:t>
            </a:r>
            <a:endParaRPr/>
          </a:p>
        </p:txBody>
      </p:sp>
      <p:sp>
        <p:nvSpPr>
          <p:cNvPr id="118" name="TextBox 7"/>
          <p:cNvSpPr txBox="1"/>
          <p:nvPr/>
        </p:nvSpPr>
        <p:spPr>
          <a:xfrm>
            <a:off x="3803904" y="210312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C7C5"/>
                </a:solidFill>
                <a:latin typeface="Noto Sans SC"/>
              </a:rPr>
              <a:t>本地 OCR</a:t>
            </a:r>
            <a:endParaRPr/>
          </a:p>
        </p:txBody>
      </p:sp>
      <p:cxnSp>
        <p:nvCxnSpPr>
          <p:cNvPr id="119" name="Connector 8"/>
          <p:cNvCxnSpPr/>
          <p:nvPr/>
        </p:nvCxnSpPr>
        <p:spPr>
          <a:xfrm>
            <a:off x="1024128" y="2670048"/>
            <a:ext cx="4014216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9"/>
          <p:cNvSpPr txBox="1"/>
          <p:nvPr/>
        </p:nvSpPr>
        <p:spPr>
          <a:xfrm>
            <a:off x="1024128" y="288950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SC"/>
              </a:rPr>
              <a:t>RapidOCR · ONNX Runtime</a:t>
            </a:r>
            <a:endParaRPr/>
          </a:p>
        </p:txBody>
      </p:sp>
      <p:sp>
        <p:nvSpPr>
          <p:cNvPr id="121" name="TextBox 10"/>
          <p:cNvSpPr txBox="1"/>
          <p:nvPr/>
        </p:nvSpPr>
        <p:spPr>
          <a:xfrm>
            <a:off x="1024128" y="3346704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4D2"/>
                </a:solidFill>
                <a:latin typeface="Noto Sans SC"/>
              </a:rPr>
              <a:t>ECDICT 75.8 万词条
考纲标签 · 行业词库</a:t>
            </a:r>
            <a:endParaRPr/>
          </a:p>
        </p:txBody>
      </p:sp>
      <p:cxnSp>
        <p:nvCxnSpPr>
          <p:cNvPr id="122" name="Connector 11"/>
          <p:cNvCxnSpPr/>
          <p:nvPr/>
        </p:nvCxnSpPr>
        <p:spPr>
          <a:xfrm>
            <a:off x="1024128" y="4151376"/>
            <a:ext cx="4014216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"/>
          <p:cNvSpPr txBox="1"/>
          <p:nvPr/>
        </p:nvSpPr>
        <p:spPr>
          <a:xfrm>
            <a:off x="1024128" y="43708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C7C5"/>
                </a:solidFill>
                <a:latin typeface="Noto Sans SC"/>
              </a:rPr>
              <a:t>截图不会离开这台电脑</a:t>
            </a:r>
            <a:endParaRPr/>
          </a:p>
        </p:txBody>
      </p:sp>
      <p:sp>
        <p:nvSpPr>
          <p:cNvPr id="124" name="TextBox 13"/>
          <p:cNvSpPr txBox="1"/>
          <p:nvPr/>
        </p:nvSpPr>
        <p:spPr>
          <a:xfrm>
            <a:off x="5852160" y="179222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60">
                <a:solidFill>
                  <a:srgbClr val="0E8F8D"/>
                </a:solidFill>
                <a:latin typeface="Noto Sans SC"/>
              </a:rPr>
              <a:t>工程侧的确定性</a:t>
            </a:r>
            <a:endParaRPr/>
          </a:p>
        </p:txBody>
      </p:sp>
      <p:sp>
        <p:nvSpPr>
          <p:cNvPr id="125" name="TextBox 14"/>
          <p:cNvSpPr txBox="1"/>
          <p:nvPr/>
        </p:nvSpPr>
        <p:spPr>
          <a:xfrm>
            <a:off x="5852160" y="221284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51C"/>
                </a:solidFill>
                <a:latin typeface="Noto Sans SC"/>
              </a:rPr>
              <a:t>无需联网</a:t>
            </a:r>
            <a:endParaRPr/>
          </a:p>
        </p:txBody>
      </p:sp>
      <p:sp>
        <p:nvSpPr>
          <p:cNvPr id="126" name="TextBox 15"/>
          <p:cNvSpPr txBox="1"/>
          <p:nvPr/>
        </p:nvSpPr>
        <p:spPr>
          <a:xfrm>
            <a:off x="7552944" y="221284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双击即可运行</a:t>
            </a:r>
            <a:endParaRPr/>
          </a:p>
        </p:txBody>
      </p:sp>
      <p:cxnSp>
        <p:nvCxnSpPr>
          <p:cNvPr id="127" name="Connector 16"/>
          <p:cNvCxnSpPr/>
          <p:nvPr/>
        </p:nvCxnSpPr>
        <p:spPr>
          <a:xfrm>
            <a:off x="5852160" y="2688336"/>
            <a:ext cx="573603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7"/>
          <p:cNvSpPr txBox="1"/>
          <p:nvPr/>
        </p:nvSpPr>
        <p:spPr>
          <a:xfrm>
            <a:off x="5852160" y="299923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51C"/>
                </a:solidFill>
                <a:latin typeface="Noto Sans SC"/>
              </a:rPr>
              <a:t>无需安装</a:t>
            </a:r>
            <a:endParaRPr/>
          </a:p>
        </p:txBody>
      </p:sp>
      <p:sp>
        <p:nvSpPr>
          <p:cNvPr id="129" name="TextBox 18"/>
          <p:cNvSpPr txBox="1"/>
          <p:nvPr/>
        </p:nvSpPr>
        <p:spPr>
          <a:xfrm>
            <a:off x="7552944" y="299923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单个 Windows 可执行体</a:t>
            </a:r>
            <a:endParaRPr/>
          </a:p>
        </p:txBody>
      </p:sp>
      <p:cxnSp>
        <p:nvCxnSpPr>
          <p:cNvPr id="130" name="Connector 19"/>
          <p:cNvCxnSpPr/>
          <p:nvPr/>
        </p:nvCxnSpPr>
        <p:spPr>
          <a:xfrm>
            <a:off x="5852160" y="3474720"/>
            <a:ext cx="573603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20"/>
          <p:cNvSpPr txBox="1"/>
          <p:nvPr/>
        </p:nvSpPr>
        <p:spPr>
          <a:xfrm>
            <a:off x="5852160" y="3785615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51C"/>
                </a:solidFill>
                <a:latin typeface="Noto Sans SC"/>
              </a:rPr>
              <a:t>可回退</a:t>
            </a:r>
            <a:endParaRPr/>
          </a:p>
        </p:txBody>
      </p:sp>
      <p:sp>
        <p:nvSpPr>
          <p:cNvPr id="132" name="TextBox 21"/>
          <p:cNvSpPr txBox="1"/>
          <p:nvPr/>
        </p:nvSpPr>
        <p:spPr>
          <a:xfrm>
            <a:off x="7552944" y="3785615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AI 仅按需调用，失败回到本地规则</a:t>
            </a:r>
            <a:endParaRPr/>
          </a:p>
        </p:txBody>
      </p:sp>
      <p:cxnSp>
        <p:nvCxnSpPr>
          <p:cNvPr id="133" name="Connector 22"/>
          <p:cNvCxnSpPr/>
          <p:nvPr/>
        </p:nvCxnSpPr>
        <p:spPr>
          <a:xfrm>
            <a:off x="5852160" y="4261104"/>
            <a:ext cx="573603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23"/>
          <p:cNvSpPr txBox="1"/>
          <p:nvPr/>
        </p:nvSpPr>
        <p:spPr>
          <a:xfrm>
            <a:off x="5852160" y="4572000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151C"/>
                </a:solidFill>
                <a:latin typeface="Noto Sans SC"/>
              </a:rPr>
              <a:t>可观测</a:t>
            </a:r>
            <a:endParaRPr/>
          </a:p>
        </p:txBody>
      </p:sp>
      <p:sp>
        <p:nvSpPr>
          <p:cNvPr id="135" name="TextBox 24"/>
          <p:cNvSpPr txBox="1"/>
          <p:nvPr/>
        </p:nvSpPr>
        <p:spPr>
          <a:xfrm>
            <a:off x="7552944" y="457200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1"/>
                </a:solidFill>
                <a:latin typeface="Noto Sans SC"/>
              </a:rPr>
              <a:t>日志、性能状态、错误自动记录</a:t>
            </a:r>
            <a:endParaRPr/>
          </a:p>
        </p:txBody>
      </p:sp>
      <p:cxnSp>
        <p:nvCxnSpPr>
          <p:cNvPr id="136" name="Connector 25"/>
          <p:cNvCxnSpPr/>
          <p:nvPr/>
        </p:nvCxnSpPr>
        <p:spPr>
          <a:xfrm>
            <a:off x="5852160" y="5047488"/>
            <a:ext cx="5736031" cy="0"/>
          </a:xfrm>
          <a:prstGeom prst="line">
            <a:avLst/>
          </a:prstGeom>
          <a:ln w="12700">
            <a:solidFill>
              <a:srgbClr val="E2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26"/>
          <p:cNvSpPr txBox="1"/>
          <p:nvPr/>
        </p:nvSpPr>
        <p:spPr>
          <a:xfrm>
            <a:off x="5852160" y="5431536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AI Key 用 Windows DPAPI 加密落盘，永不进入设置文件与日志。</a:t>
            </a:r>
            <a:endParaRPr/>
          </a:p>
        </p:txBody>
      </p:sp>
      <p:sp>
        <p:nvSpPr>
          <p:cNvPr id="138" name="TextBox 27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PRODUCT STORY</a:t>
            </a:r>
            <a:endParaRPr/>
          </a:p>
        </p:txBody>
      </p:sp>
      <p:sp>
        <p:nvSpPr>
          <p:cNvPr id="139" name="TextBox 28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10C7C5"/>
                </a:solidFill>
                <a:latin typeface="Noto Sans SC"/>
              </a:rPr>
              <a:t>13 / ENGINEERING</a:t>
            </a:r>
            <a:endParaRPr/>
          </a:p>
        </p:txBody>
      </p:sp>
      <p:sp>
        <p:nvSpPr>
          <p:cNvPr id="142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FFFFFF"/>
                </a:solidFill>
                <a:latin typeface="Noto Sans SC"/>
              </a:rPr>
              <a:t>每一项都有一条断言守着</a:t>
            </a:r>
            <a:endParaRPr/>
          </a:p>
        </p:txBody>
      </p:sp>
      <p:sp>
        <p:nvSpPr>
          <p:cNvPr id="143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B8C4D2"/>
                </a:solidFill>
                <a:latin typeface="Noto Sans SC"/>
              </a:rPr>
              <a:t>打包前强制全部通过，任何一条红了就不出版本</a:t>
            </a:r>
            <a:endParaRPr/>
          </a:p>
        </p:txBody>
      </p:sp>
      <p:sp>
        <p:nvSpPr>
          <p:cNvPr id="144" name="TextBox 4"/>
          <p:cNvSpPr txBox="1"/>
          <p:nvPr/>
        </p:nvSpPr>
        <p:spPr>
          <a:xfrm>
            <a:off x="603504" y="181051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ans SC"/>
              </a:rPr>
              <a:t>16</a:t>
            </a:r>
            <a:endParaRPr/>
          </a:p>
        </p:txBody>
      </p:sp>
      <p:cxnSp>
        <p:nvCxnSpPr>
          <p:cNvPr id="145" name="Connector 5"/>
          <p:cNvCxnSpPr/>
          <p:nvPr/>
        </p:nvCxnSpPr>
        <p:spPr>
          <a:xfrm>
            <a:off x="603504" y="2505456"/>
            <a:ext cx="2395728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6"/>
          <p:cNvSpPr txBox="1"/>
          <p:nvPr/>
        </p:nvSpPr>
        <p:spPr>
          <a:xfrm>
            <a:off x="603504" y="2651760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C7C5"/>
                </a:solidFill>
                <a:latin typeface="Noto Sans SC"/>
              </a:rPr>
              <a:t>单元测试</a:t>
            </a:r>
            <a:endParaRPr/>
          </a:p>
        </p:txBody>
      </p:sp>
      <p:sp>
        <p:nvSpPr>
          <p:cNvPr id="147" name="TextBox 7"/>
          <p:cNvSpPr txBox="1"/>
          <p:nvPr/>
        </p:nvSpPr>
        <p:spPr>
          <a:xfrm>
            <a:off x="603504" y="292608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几何 / 步态 / 穿透 / 皮肤 / 复习</a:t>
            </a:r>
            <a:endParaRPr/>
          </a:p>
        </p:txBody>
      </p:sp>
      <p:sp>
        <p:nvSpPr>
          <p:cNvPr id="148" name="TextBox 8"/>
          <p:cNvSpPr txBox="1"/>
          <p:nvPr/>
        </p:nvSpPr>
        <p:spPr>
          <a:xfrm>
            <a:off x="3401568" y="181051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ans SC"/>
              </a:rPr>
              <a:t>19</a:t>
            </a:r>
            <a:endParaRPr/>
          </a:p>
        </p:txBody>
      </p:sp>
      <p:cxnSp>
        <p:nvCxnSpPr>
          <p:cNvPr id="149" name="Connector 9"/>
          <p:cNvCxnSpPr/>
          <p:nvPr/>
        </p:nvCxnSpPr>
        <p:spPr>
          <a:xfrm>
            <a:off x="3401568" y="2505456"/>
            <a:ext cx="2395728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0"/>
          <p:cNvSpPr txBox="1"/>
          <p:nvPr/>
        </p:nvSpPr>
        <p:spPr>
          <a:xfrm>
            <a:off x="3401568" y="2651760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C7C5"/>
                </a:solidFill>
                <a:latin typeface="Noto Sans SC"/>
              </a:rPr>
              <a:t>端到端断言</a:t>
            </a:r>
            <a:endParaRPr/>
          </a:p>
        </p:txBody>
      </p:sp>
      <p:sp>
        <p:nvSpPr>
          <p:cNvPr id="151" name="TextBox 11"/>
          <p:cNvSpPr txBox="1"/>
          <p:nvPr/>
        </p:nvSpPr>
        <p:spPr>
          <a:xfrm>
            <a:off x="3401568" y="292608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腿真的落在词上，框不越界</a:t>
            </a:r>
            <a:endParaRPr/>
          </a:p>
        </p:txBody>
      </p:sp>
      <p:sp>
        <p:nvSpPr>
          <p:cNvPr id="152" name="TextBox 12"/>
          <p:cNvSpPr txBox="1"/>
          <p:nvPr/>
        </p:nvSpPr>
        <p:spPr>
          <a:xfrm>
            <a:off x="6199632" y="181051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ans SC"/>
              </a:rPr>
              <a:t>13+13</a:t>
            </a:r>
            <a:endParaRPr/>
          </a:p>
        </p:txBody>
      </p:sp>
      <p:cxnSp>
        <p:nvCxnSpPr>
          <p:cNvPr id="153" name="Connector 13"/>
          <p:cNvCxnSpPr/>
          <p:nvPr/>
        </p:nvCxnSpPr>
        <p:spPr>
          <a:xfrm>
            <a:off x="6199632" y="2505456"/>
            <a:ext cx="2395728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4"/>
          <p:cNvSpPr txBox="1"/>
          <p:nvPr/>
        </p:nvSpPr>
        <p:spPr>
          <a:xfrm>
            <a:off x="6199632" y="2651760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C7C5"/>
                </a:solidFill>
                <a:latin typeface="Noto Sans SC"/>
              </a:rPr>
              <a:t>触发矩阵 · 桥接自检</a:t>
            </a:r>
            <a:endParaRPr/>
          </a:p>
        </p:txBody>
      </p:sp>
      <p:sp>
        <p:nvSpPr>
          <p:cNvPr id="155" name="TextBox 15"/>
          <p:cNvSpPr txBox="1"/>
          <p:nvPr/>
        </p:nvSpPr>
        <p:spPr>
          <a:xfrm>
            <a:off x="6199632" y="292608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瞄准何时触发 / 设置真的写回</a:t>
            </a:r>
            <a:endParaRPr/>
          </a:p>
        </p:txBody>
      </p:sp>
      <p:sp>
        <p:nvSpPr>
          <p:cNvPr id="156" name="TextBox 16"/>
          <p:cNvSpPr txBox="1"/>
          <p:nvPr/>
        </p:nvSpPr>
        <p:spPr>
          <a:xfrm>
            <a:off x="8997696" y="1810512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Noto Sans SC"/>
              </a:rPr>
              <a:t>9</a:t>
            </a:r>
            <a:endParaRPr/>
          </a:p>
        </p:txBody>
      </p:sp>
      <p:cxnSp>
        <p:nvCxnSpPr>
          <p:cNvPr id="157" name="Connector 17"/>
          <p:cNvCxnSpPr/>
          <p:nvPr/>
        </p:nvCxnSpPr>
        <p:spPr>
          <a:xfrm>
            <a:off x="8997696" y="2505456"/>
            <a:ext cx="2395728" cy="0"/>
          </a:xfrm>
          <a:prstGeom prst="line">
            <a:avLst/>
          </a:prstGeom>
          <a:ln w="12700">
            <a:solidFill>
              <a:srgbClr val="263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8"/>
          <p:cNvSpPr txBox="1"/>
          <p:nvPr/>
        </p:nvSpPr>
        <p:spPr>
          <a:xfrm>
            <a:off x="8997696" y="2651760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C7C5"/>
                </a:solidFill>
                <a:latin typeface="Noto Sans SC"/>
              </a:rPr>
              <a:t>打包流水线</a:t>
            </a:r>
            <a:endParaRPr/>
          </a:p>
        </p:txBody>
      </p:sp>
      <p:sp>
        <p:nvSpPr>
          <p:cNvPr id="159" name="TextBox 19"/>
          <p:cNvSpPr txBox="1"/>
          <p:nvPr/>
        </p:nvSpPr>
        <p:spPr>
          <a:xfrm>
            <a:off x="8997696" y="2926080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4D2"/>
                </a:solidFill>
                <a:latin typeface="Noto Sans SC"/>
              </a:rPr>
              <a:t>图标 → 测试 → 冒烟 → PyInstaller</a:t>
            </a:r>
            <a:endParaRPr/>
          </a:p>
        </p:txBody>
      </p:sp>
      <p:sp>
        <p:nvSpPr>
          <p:cNvPr id="160" name="Rounded Rectangle 20"/>
          <p:cNvSpPr/>
          <p:nvPr/>
        </p:nvSpPr>
        <p:spPr>
          <a:xfrm>
            <a:off x="603504" y="3767328"/>
            <a:ext cx="10984687" cy="859536"/>
          </a:xfrm>
          <a:prstGeom prst="roundRect">
            <a:avLst>
              <a:gd name="adj" fmla="val 14893"/>
            </a:avLst>
          </a:prstGeom>
          <a:solidFill>
            <a:srgbClr val="161F29"/>
          </a:solidFill>
          <a:ln w="12700">
            <a:solidFill>
              <a:srgbClr val="26313D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21"/>
          <p:cNvSpPr txBox="1"/>
          <p:nvPr/>
        </p:nvSpPr>
        <p:spPr>
          <a:xfrm>
            <a:off x="914400" y="387705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8E9AA6"/>
                </a:solidFill>
                <a:latin typeface="Noto Sans SC"/>
              </a:rPr>
              <a:t>tools/build_exe.bat 的九步</a:t>
            </a:r>
            <a:endParaRPr/>
          </a:p>
        </p:txBody>
      </p:sp>
      <p:sp>
        <p:nvSpPr>
          <p:cNvPr id="162" name="Rounded Rectangle 22"/>
          <p:cNvSpPr/>
          <p:nvPr/>
        </p:nvSpPr>
        <p:spPr>
          <a:xfrm>
            <a:off x="914400" y="4224528"/>
            <a:ext cx="521208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图标</a:t>
            </a:r>
            <a:endParaRPr/>
          </a:p>
        </p:txBody>
      </p:sp>
      <p:sp>
        <p:nvSpPr>
          <p:cNvPr id="163" name="Rounded Rectangle 23"/>
          <p:cNvSpPr/>
          <p:nvPr/>
        </p:nvSpPr>
        <p:spPr>
          <a:xfrm>
            <a:off x="1581912" y="4224528"/>
            <a:ext cx="836676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16 单测</a:t>
            </a:r>
            <a:endParaRPr/>
          </a:p>
        </p:txBody>
      </p:sp>
      <p:sp>
        <p:nvSpPr>
          <p:cNvPr id="164" name="Rounded Rectangle 24"/>
          <p:cNvSpPr/>
          <p:nvPr/>
        </p:nvSpPr>
        <p:spPr>
          <a:xfrm>
            <a:off x="2564891" y="422452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渲染冒烟</a:t>
            </a:r>
            <a:endParaRPr/>
          </a:p>
        </p:txBody>
      </p:sp>
      <p:sp>
        <p:nvSpPr>
          <p:cNvPr id="165" name="Rounded Rectangle 25"/>
          <p:cNvSpPr/>
          <p:nvPr/>
        </p:nvSpPr>
        <p:spPr>
          <a:xfrm>
            <a:off x="3442715" y="4224528"/>
            <a:ext cx="626364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e2e</a:t>
            </a:r>
            <a:endParaRPr/>
          </a:p>
        </p:txBody>
      </p:sp>
      <p:sp>
        <p:nvSpPr>
          <p:cNvPr id="166" name="Rounded Rectangle 26"/>
          <p:cNvSpPr/>
          <p:nvPr/>
        </p:nvSpPr>
        <p:spPr>
          <a:xfrm>
            <a:off x="4215383" y="422452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触发矩阵</a:t>
            </a:r>
            <a:endParaRPr/>
          </a:p>
        </p:txBody>
      </p:sp>
      <p:sp>
        <p:nvSpPr>
          <p:cNvPr id="167" name="Rounded Rectangle 27"/>
          <p:cNvSpPr/>
          <p:nvPr/>
        </p:nvSpPr>
        <p:spPr>
          <a:xfrm>
            <a:off x="5093207" y="422452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折叠模式</a:t>
            </a:r>
            <a:endParaRPr/>
          </a:p>
        </p:txBody>
      </p:sp>
      <p:sp>
        <p:nvSpPr>
          <p:cNvPr id="168" name="Rounded Rectangle 28"/>
          <p:cNvSpPr/>
          <p:nvPr/>
        </p:nvSpPr>
        <p:spPr>
          <a:xfrm>
            <a:off x="5971031" y="4224528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QML 冒烟</a:t>
            </a:r>
            <a:endParaRPr/>
          </a:p>
        </p:txBody>
      </p:sp>
      <p:sp>
        <p:nvSpPr>
          <p:cNvPr id="169" name="Rounded Rectangle 29"/>
          <p:cNvSpPr/>
          <p:nvPr/>
        </p:nvSpPr>
        <p:spPr>
          <a:xfrm>
            <a:off x="7059167" y="4224528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B2733"/>
          </a:solidFill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CFE9E8"/>
                </a:solidFill>
                <a:latin typeface="Noto Sans SC"/>
              </a:rPr>
              <a:t>桥接自检</a:t>
            </a:r>
            <a:endParaRPr/>
          </a:p>
        </p:txBody>
      </p:sp>
      <p:sp>
        <p:nvSpPr>
          <p:cNvPr id="170" name="Rounded Rectangle 30"/>
          <p:cNvSpPr/>
          <p:nvPr/>
        </p:nvSpPr>
        <p:spPr>
          <a:xfrm>
            <a:off x="7936992" y="4224528"/>
            <a:ext cx="521208" cy="292608"/>
          </a:xfrm>
          <a:prstGeom prst="roundRect">
            <a:avLst>
              <a:gd name="adj" fmla="val 50000"/>
            </a:avLst>
          </a:prstGeom>
          <a:solidFill>
            <a:srgbClr val="10C7C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>
                <a:solidFill>
                  <a:srgbClr val="0B1118"/>
                </a:solidFill>
                <a:latin typeface="Noto Sans SC"/>
              </a:rPr>
              <a:t>打包</a:t>
            </a:r>
            <a:endParaRPr/>
          </a:p>
        </p:txBody>
      </p:sp>
      <p:sp>
        <p:nvSpPr>
          <p:cNvPr id="171" name="TextBox 31"/>
          <p:cNvSpPr txBox="1"/>
          <p:nvPr/>
        </p:nvSpPr>
        <p:spPr>
          <a:xfrm>
            <a:off x="603504" y="490118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80">
                <a:solidFill>
                  <a:srgbClr val="10C7C5"/>
                </a:solidFill>
                <a:latin typeface="Noto Sans SC"/>
              </a:rPr>
              <a:t>踩过的坑写进了注释</a:t>
            </a:r>
            <a:endParaRPr/>
          </a:p>
        </p:txBody>
      </p:sp>
      <p:sp>
        <p:nvSpPr>
          <p:cNvPr id="172" name="TextBox 32"/>
          <p:cNvSpPr txBox="1"/>
          <p:nvPr/>
        </p:nvSpPr>
        <p:spPr>
          <a:xfrm>
            <a:off x="603504" y="5230368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4D2"/>
                </a:solidFill>
                <a:latin typeface="Noto Sans SC"/>
              </a:rPr>
              <a:t>「八个腿定位」曾经 15 项断言全过、真机上却完全不工作 —— 因为测试用假 worker 绕过了信号传参的 bug。
现在的 e2e 用真线程 + 真信号，只替换「OCR 认出了什么」，坐标换算走生产代码。</a:t>
            </a:r>
            <a:endParaRPr/>
          </a:p>
        </p:txBody>
      </p:sp>
      <p:sp>
        <p:nvSpPr>
          <p:cNvPr id="173" name="TextBox 33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7626F"/>
                </a:solidFill>
                <a:latin typeface="Noto Sans SC"/>
              </a:rPr>
              <a:t>LEXARA / ENGINEERING</a:t>
            </a:r>
            <a:endParaRPr/>
          </a:p>
        </p:txBody>
      </p:sp>
      <p:sp>
        <p:nvSpPr>
          <p:cNvPr id="174" name="TextBox 34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626F"/>
                </a:solidFill>
                <a:latin typeface="Noto Sans SC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 txBox="1"/>
          <p:nvPr/>
        </p:nvSpPr>
        <p:spPr>
          <a:xfrm>
            <a:off x="603504" y="402336"/>
            <a:ext cx="109846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E8F8D"/>
                </a:solidFill>
                <a:latin typeface="Noto Sans SC"/>
              </a:rPr>
              <a:t>14 / SCOPE</a:t>
            </a:r>
            <a:endParaRPr/>
          </a:p>
        </p:txBody>
      </p:sp>
      <p:sp>
        <p:nvSpPr>
          <p:cNvPr id="177" name="TextBox 2"/>
          <p:cNvSpPr txBox="1"/>
          <p:nvPr/>
        </p:nvSpPr>
        <p:spPr>
          <a:xfrm>
            <a:off x="603504" y="713232"/>
            <a:ext cx="1098468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spc="20">
                <a:solidFill>
                  <a:srgbClr val="10151C"/>
                </a:solidFill>
                <a:latin typeface="Noto Sans SC"/>
              </a:rPr>
              <a:t>做到哪一步了 —— 以及没做什么</a:t>
            </a:r>
            <a:endParaRPr/>
          </a:p>
        </p:txBody>
      </p:sp>
      <p:sp>
        <p:nvSpPr>
          <p:cNvPr id="178" name="TextBox 3"/>
          <p:cNvSpPr txBox="1"/>
          <p:nvPr/>
        </p:nvSpPr>
        <p:spPr>
          <a:xfrm>
            <a:off x="603504" y="1298448"/>
            <a:ext cx="1098468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B6571"/>
                </a:solidFill>
                <a:latin typeface="Noto Sans SC"/>
              </a:rPr>
              <a:t>把占位说成功能，是对评审者最大的不尊重</a:t>
            </a:r>
            <a:endParaRPr/>
          </a:p>
        </p:txBody>
      </p:sp>
      <p:sp>
        <p:nvSpPr>
          <p:cNvPr id="179" name="Rounded Rectangle 4"/>
          <p:cNvSpPr/>
          <p:nvPr/>
        </p:nvSpPr>
        <p:spPr>
          <a:xfrm>
            <a:off x="603504" y="1792224"/>
            <a:ext cx="3511296" cy="3054096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ounded Rectangle 5"/>
          <p:cNvSpPr/>
          <p:nvPr/>
        </p:nvSpPr>
        <p:spPr>
          <a:xfrm>
            <a:off x="914400" y="2048256"/>
            <a:ext cx="457200" cy="54864"/>
          </a:xfrm>
          <a:prstGeom prst="roundRect">
            <a:avLst>
              <a:gd name="adj" fmla="val 50000"/>
            </a:avLst>
          </a:prstGeom>
          <a:solidFill>
            <a:srgbClr val="3E9E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1" name="TextBox 6"/>
          <p:cNvSpPr txBox="1"/>
          <p:nvPr/>
        </p:nvSpPr>
        <p:spPr>
          <a:xfrm>
            <a:off x="914400" y="22128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51C"/>
                </a:solidFill>
                <a:latin typeface="Noto Sans SC"/>
              </a:rPr>
              <a:t>已经能用</a:t>
            </a:r>
            <a:endParaRPr/>
          </a:p>
        </p:txBody>
      </p:sp>
      <p:sp>
        <p:nvSpPr>
          <p:cNvPr id="182" name="TextBox 7"/>
          <p:cNvSpPr txBox="1"/>
          <p:nvPr/>
        </p:nvSpPr>
        <p:spPr>
          <a:xfrm>
            <a:off x="914400" y="2596896"/>
            <a:ext cx="290779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框选 → OCR → 挑词 → 踩词 → 结果卡 → 收藏 → 复习，整条链路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桌宠全部交互与点击穿透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四套皮肤即切即生效，双向同步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部署 / 收回完整时间轴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学习日历、成就、导出 PNG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开机自启与启动后自动部署（两个独立开关）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3E9E6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底部 AI 对话真的发请求，可取消、有错误分级</a:t>
            </a:r>
            <a:endParaRPr/>
          </a:p>
        </p:txBody>
      </p:sp>
      <p:sp>
        <p:nvSpPr>
          <p:cNvPr id="183" name="Rounded Rectangle 8"/>
          <p:cNvSpPr/>
          <p:nvPr/>
        </p:nvSpPr>
        <p:spPr>
          <a:xfrm>
            <a:off x="4315968" y="1792224"/>
            <a:ext cx="3511296" cy="3054096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ounded Rectangle 9"/>
          <p:cNvSpPr/>
          <p:nvPr/>
        </p:nvSpPr>
        <p:spPr>
          <a:xfrm>
            <a:off x="4626864" y="2048256"/>
            <a:ext cx="457200" cy="54864"/>
          </a:xfrm>
          <a:prstGeom prst="roundRect">
            <a:avLst>
              <a:gd name="adj" fmla="val 50000"/>
            </a:avLst>
          </a:prstGeom>
          <a:solidFill>
            <a:srgbClr val="F0A32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TextBox 10"/>
          <p:cNvSpPr txBox="1"/>
          <p:nvPr/>
        </p:nvSpPr>
        <p:spPr>
          <a:xfrm>
            <a:off x="4626864" y="22128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51C"/>
                </a:solidFill>
                <a:latin typeface="Noto Sans SC"/>
              </a:rPr>
              <a:t>部分实现</a:t>
            </a:r>
            <a:endParaRPr/>
          </a:p>
        </p:txBody>
      </p:sp>
      <p:sp>
        <p:nvSpPr>
          <p:cNvPr id="186" name="TextBox 11"/>
          <p:cNvSpPr txBox="1"/>
          <p:nvPr/>
        </p:nvSpPr>
        <p:spPr>
          <a:xfrm>
            <a:off x="4626864" y="2596896"/>
            <a:ext cx="290779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F0A32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云端 AI 选词：需先配 Key，未配则走本地规则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F0A32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复习只有「看词回忆 + 自评」一种题型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F0A32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AI 对话非流式，界面如实显示「请求中」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F0A32E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真机只验过单屏 150% 缩放（100/125% 用 QT_SCALE_FACTOR 模拟）</a:t>
            </a:r>
            <a:endParaRPr/>
          </a:p>
        </p:txBody>
      </p:sp>
      <p:sp>
        <p:nvSpPr>
          <p:cNvPr id="187" name="Rounded Rectangle 12"/>
          <p:cNvSpPr/>
          <p:nvPr/>
        </p:nvSpPr>
        <p:spPr>
          <a:xfrm>
            <a:off x="8028431" y="1792224"/>
            <a:ext cx="3511296" cy="3054096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ounded Rectangle 13"/>
          <p:cNvSpPr/>
          <p:nvPr/>
        </p:nvSpPr>
        <p:spPr>
          <a:xfrm>
            <a:off x="8339327" y="2048256"/>
            <a:ext cx="457200" cy="54864"/>
          </a:xfrm>
          <a:prstGeom prst="roundRect">
            <a:avLst>
              <a:gd name="adj" fmla="val 50000"/>
            </a:avLst>
          </a:prstGeom>
          <a:solidFill>
            <a:srgbClr val="8E9AA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TextBox 14"/>
          <p:cNvSpPr txBox="1"/>
          <p:nvPr/>
        </p:nvSpPr>
        <p:spPr>
          <a:xfrm>
            <a:off x="8339327" y="22128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151C"/>
                </a:solidFill>
                <a:latin typeface="Noto Sans SC"/>
              </a:rPr>
              <a:t>明确没做</a:t>
            </a:r>
            <a:endParaRPr/>
          </a:p>
        </p:txBody>
      </p:sp>
      <p:sp>
        <p:nvSpPr>
          <p:cNvPr id="190" name="TextBox 15"/>
          <p:cNvSpPr txBox="1"/>
          <p:nvPr/>
        </p:nvSpPr>
        <p:spPr>
          <a:xfrm>
            <a:off x="8339327" y="2596896"/>
            <a:ext cx="290779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8E9AA6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「蜘蛛感应」式持续扫描（帮助里标「规划中」）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8E9AA6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本地大模型 provider（显式未实现）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8E9AA6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账号 / 云同步 / 多端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8E9AA6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Mac / Linux（依赖 WH_MOUSE_LL、DPAPI）</a:t>
            </a:r>
            <a:endParaRPr/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8E9AA6"/>
                </a:solidFill>
                <a:latin typeface="Noto Sans SC"/>
              </a:rPr>
              <a:t>· </a:t>
            </a:r>
            <a:r>
              <a:rPr sz="960" b="0" i="0">
                <a:solidFill>
                  <a:srgbClr val="5B6571"/>
                </a:solidFill>
                <a:latin typeface="Noto Sans SC"/>
              </a:rPr>
              <a:t>移动端与平板</a:t>
            </a:r>
            <a:endParaRPr/>
          </a:p>
        </p:txBody>
      </p:sp>
      <p:sp>
        <p:nvSpPr>
          <p:cNvPr id="191" name="Rounded Rectangle 16"/>
          <p:cNvSpPr/>
          <p:nvPr/>
        </p:nvSpPr>
        <p:spPr>
          <a:xfrm>
            <a:off x="603504" y="4956048"/>
            <a:ext cx="10984687" cy="1060704"/>
          </a:xfrm>
          <a:prstGeom prst="roundRect">
            <a:avLst>
              <a:gd name="adj" fmla="val 13793"/>
            </a:avLst>
          </a:prstGeom>
          <a:solidFill>
            <a:srgbClr val="FBF8F1"/>
          </a:solidFill>
          <a:ln w="12700">
            <a:solidFill>
              <a:srgbClr val="E2DCCE"/>
            </a:solidFill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TextBox 17"/>
          <p:cNvSpPr txBox="1"/>
          <p:nvPr/>
        </p:nvSpPr>
        <p:spPr>
          <a:xfrm>
            <a:off x="932688" y="507492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0E8F8D"/>
                </a:solidFill>
                <a:latin typeface="Noto Sans SC"/>
              </a:rPr>
              <a:t>如果再迭代两周，先做这三件</a:t>
            </a:r>
            <a:endParaRPr/>
          </a:p>
        </p:txBody>
      </p:sp>
      <p:sp>
        <p:nvSpPr>
          <p:cNvPr id="193" name="TextBox 18"/>
          <p:cNvSpPr txBox="1"/>
          <p:nvPr/>
        </p:nvSpPr>
        <p:spPr>
          <a:xfrm>
            <a:off x="932688" y="534924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0151C"/>
                </a:solidFill>
                <a:latin typeface="Noto Sans SC"/>
              </a:rPr>
              <a:t>① 让蜘蛛参与复习（答错时抖一下、重新踩向正确的词）    ② 收藏夹与单词本迁进 QML 覆盖面板    ③ 多屏 / 混合 DPI 的真机适配</a:t>
            </a:r>
            <a:endParaRPr/>
          </a:p>
        </p:txBody>
      </p:sp>
      <p:sp>
        <p:nvSpPr>
          <p:cNvPr id="194" name="TextBox 19"/>
          <p:cNvSpPr txBox="1"/>
          <p:nvPr/>
        </p:nvSpPr>
        <p:spPr>
          <a:xfrm>
            <a:off x="932688" y="5669280"/>
            <a:ext cx="10424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571"/>
                </a:solidFill>
                <a:latin typeface="Noto Sans SC"/>
              </a:rPr>
              <a:t>三条都不是新功能 —— 是把已经能用的东西补齐到「不用解释也能用」。</a:t>
            </a:r>
            <a:endParaRPr/>
          </a:p>
        </p:txBody>
      </p:sp>
      <p:sp>
        <p:nvSpPr>
          <p:cNvPr id="195" name="TextBox 20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25" b="1" i="0" spc="120">
                <a:solidFill>
                  <a:srgbClr val="5B6571"/>
                </a:solidFill>
                <a:latin typeface="Noto Sans SC"/>
              </a:rPr>
              <a:t>LEXARA / SCOPE</a:t>
            </a:r>
            <a:endParaRPr/>
          </a:p>
        </p:txBody>
      </p:sp>
      <p:sp>
        <p:nvSpPr>
          <p:cNvPr id="196" name="TextBox 21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6571"/>
                </a:solidFill>
                <a:latin typeface="Noto Sans SC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" descr="lexara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663875"/>
            <a:ext cx="1920240" cy="519337"/>
          </a:xfrm>
          <a:prstGeom prst="rect">
            <a:avLst/>
          </a:prstGeom>
        </p:spPr>
      </p:pic>
      <p:sp>
        <p:nvSpPr>
          <p:cNvPr id="199" name="TextBox 2"/>
          <p:cNvSpPr txBox="1"/>
          <p:nvPr/>
        </p:nvSpPr>
        <p:spPr>
          <a:xfrm>
            <a:off x="603504" y="1975104"/>
            <a:ext cx="6949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spc="100">
                <a:solidFill>
                  <a:srgbClr val="FFFFFF"/>
                </a:solidFill>
                <a:latin typeface="Noto Sans SC"/>
              </a:rPr>
              <a:t>让下一次遇到生词时，</a:t>
            </a:r>
            <a:endParaRPr/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spc="100">
                <a:solidFill>
                  <a:srgbClr val="FFFFFF"/>
                </a:solidFill>
                <a:latin typeface="Noto Sans SC"/>
              </a:rPr>
              <a:t>你不用离开正在读的东西。</a:t>
            </a:r>
            <a:endParaRPr/>
          </a:p>
        </p:txBody>
      </p:sp>
      <p:sp>
        <p:nvSpPr>
          <p:cNvPr id="200" name="TextBox 3"/>
          <p:cNvSpPr txBox="1"/>
          <p:nvPr/>
        </p:nvSpPr>
        <p:spPr>
          <a:xfrm>
            <a:off x="603504" y="3931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60">
                <a:solidFill>
                  <a:srgbClr val="10C7C5"/>
                </a:solidFill>
                <a:latin typeface="Noto Sans SC"/>
              </a:rPr>
              <a:t>点头  ·  框选  ·  踩词  ·  复习</a:t>
            </a:r>
            <a:endParaRPr/>
          </a:p>
        </p:txBody>
      </p:sp>
      <p:sp>
        <p:nvSpPr>
          <p:cNvPr id="201" name="Rounded Rectangle 4"/>
          <p:cNvSpPr/>
          <p:nvPr/>
        </p:nvSpPr>
        <p:spPr>
          <a:xfrm>
            <a:off x="603504" y="4572000"/>
            <a:ext cx="159105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DCE3EA"/>
                </a:solidFill>
                <a:latin typeface="Noto Sans SC"/>
              </a:rPr>
              <a:t>Windows 10 / 11</a:t>
            </a:r>
            <a:endParaRPr/>
          </a:p>
        </p:txBody>
      </p:sp>
      <p:sp>
        <p:nvSpPr>
          <p:cNvPr id="202" name="Rounded Rectangle 5"/>
          <p:cNvSpPr/>
          <p:nvPr/>
        </p:nvSpPr>
        <p:spPr>
          <a:xfrm>
            <a:off x="2304288" y="4572000"/>
            <a:ext cx="159105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DCE3EA"/>
                </a:solidFill>
                <a:latin typeface="Noto Sans SC"/>
              </a:rPr>
              <a:t>单文件免安装</a:t>
            </a:r>
            <a:endParaRPr/>
          </a:p>
        </p:txBody>
      </p:sp>
      <p:sp>
        <p:nvSpPr>
          <p:cNvPr id="203" name="Rounded Rectangle 6"/>
          <p:cNvSpPr/>
          <p:nvPr/>
        </p:nvSpPr>
        <p:spPr>
          <a:xfrm>
            <a:off x="4005072" y="4572000"/>
            <a:ext cx="159105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6313D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DCE3EA"/>
                </a:solidFill>
                <a:latin typeface="Noto Sans SC"/>
              </a:rPr>
              <a:t>离线可用</a:t>
            </a:r>
            <a:endParaRPr/>
          </a:p>
        </p:txBody>
      </p:sp>
      <p:sp>
        <p:nvSpPr>
          <p:cNvPr id="204" name="TextBox 7"/>
          <p:cNvSpPr txBox="1"/>
          <p:nvPr/>
        </p:nvSpPr>
        <p:spPr>
          <a:xfrm>
            <a:off x="603504" y="5815584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A87"/>
                </a:solidFill>
                <a:latin typeface="Noto Sans SC"/>
              </a:rPr>
              <a:t>词蛛 LEXARA · Windows 桌面学习工具 · 产品介绍</a:t>
            </a:r>
            <a:endParaRPr/>
          </a:p>
        </p:txBody>
      </p:sp>
      <p:pic>
        <p:nvPicPr>
          <p:cNvPr id="205" name="Picture 8" descr="aim_liv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374645"/>
            <a:ext cx="4572000" cy="2782829"/>
          </a:xfrm>
          <a:prstGeom prst="rect">
            <a:avLst/>
          </a:prstGeom>
        </p:spPr>
      </p:pic>
      <p:sp>
        <p:nvSpPr>
          <p:cNvPr id="206" name="TextBox 9"/>
          <p:cNvSpPr txBox="1"/>
          <p:nvPr/>
        </p:nvSpPr>
        <p:spPr>
          <a:xfrm>
            <a:off x="7059168" y="439521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SC"/>
              </a:rPr>
              <a:t>八条腿踩住八个词</a:t>
            </a:r>
            <a:endParaRPr/>
          </a:p>
        </p:txBody>
      </p:sp>
      <p:sp>
        <p:nvSpPr>
          <p:cNvPr id="207" name="TextBox 10"/>
          <p:cNvSpPr txBox="1"/>
          <p:nvPr/>
        </p:nvSpPr>
        <p:spPr>
          <a:xfrm>
            <a:off x="7059168" y="476097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8C4D2"/>
                </a:solidFill>
                <a:latin typeface="Noto Sans SC"/>
              </a:rPr>
              <a:t>蜘蛛的每一帧都是解算出来的：
腿、膝、脚尖，实时跟住屏幕上的词。</a:t>
            </a:r>
            <a:endParaRPr/>
          </a:p>
        </p:txBody>
      </p:sp>
      <p:sp>
        <p:nvSpPr>
          <p:cNvPr id="208" name="TextBox 11"/>
          <p:cNvSpPr txBox="1"/>
          <p:nvPr/>
        </p:nvSpPr>
        <p:spPr>
          <a:xfrm>
            <a:off x="603504" y="632764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9" name="TextBox 12"/>
          <p:cNvSpPr txBox="1"/>
          <p:nvPr/>
        </p:nvSpPr>
        <p:spPr>
          <a:xfrm>
            <a:off x="11039551" y="632764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7626F"/>
                </a:solidFill>
                <a:latin typeface="Noto Sans SC"/>
              </a:rPr>
              <a:t>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2026-10-20T08:48:58Z</dcterms:created>
  <dcterms:modified xsi:type="dcterms:W3CDTF">2026-10-20T08:48:58Z</dcterms:modified>
</cp:coreProperties>
</file>